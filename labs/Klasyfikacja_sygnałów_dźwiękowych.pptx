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84" r:id="rId3"/>
    <p:sldId id="258" r:id="rId4"/>
    <p:sldId id="259" r:id="rId5"/>
    <p:sldId id="260" r:id="rId6"/>
    <p:sldId id="267" r:id="rId7"/>
    <p:sldId id="262" r:id="rId8"/>
    <p:sldId id="261"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C850"/>
    <a:srgbClr val="C8F0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 pośredni 2 — Ak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14"/>
      </p:cViewPr>
      <p:guideLst/>
    </p:cSldViewPr>
  </p:slideViewPr>
  <p:notesTextViewPr>
    <p:cViewPr>
      <p:scale>
        <a:sx n="1" d="1"/>
        <a:sy n="1" d="1"/>
      </p:scale>
      <p:origin x="0" y="0"/>
    </p:cViewPr>
  </p:notesTextViewPr>
  <p:notesViewPr>
    <p:cSldViewPr snapToGrid="0">
      <p:cViewPr varScale="1">
        <p:scale>
          <a:sx n="62" d="100"/>
          <a:sy n="62" d="100"/>
        </p:scale>
        <p:origin x="2448"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a:extLst>
              <a:ext uri="{FF2B5EF4-FFF2-40B4-BE49-F238E27FC236}">
                <a16:creationId xmlns:a16="http://schemas.microsoft.com/office/drawing/2014/main" id="{1DD8E2CA-B86D-6F25-2172-35996C20D8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a:extLst>
              <a:ext uri="{FF2B5EF4-FFF2-40B4-BE49-F238E27FC236}">
                <a16:creationId xmlns:a16="http://schemas.microsoft.com/office/drawing/2014/main" id="{C9502780-D80D-EFD0-A86A-2C085701C9B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78BD20-1474-4A98-8D2F-89401947148E}" type="datetimeFigureOut">
              <a:rPr lang="pl-PL" smtClean="0"/>
              <a:t>20.05.2026</a:t>
            </a:fld>
            <a:endParaRPr lang="pl-PL"/>
          </a:p>
        </p:txBody>
      </p:sp>
      <p:sp>
        <p:nvSpPr>
          <p:cNvPr id="4" name="Symbol zastępczy stopki 3">
            <a:extLst>
              <a:ext uri="{FF2B5EF4-FFF2-40B4-BE49-F238E27FC236}">
                <a16:creationId xmlns:a16="http://schemas.microsoft.com/office/drawing/2014/main" id="{3A873145-0A59-E3D5-9070-A8C8FD518CD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5" name="Symbol zastępczy numeru slajdu 4">
            <a:extLst>
              <a:ext uri="{FF2B5EF4-FFF2-40B4-BE49-F238E27FC236}">
                <a16:creationId xmlns:a16="http://schemas.microsoft.com/office/drawing/2014/main" id="{CE0E1F81-0970-3231-296B-58B50B9ADFE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EDD588-2F40-4438-86D7-B34AC408BE48}" type="slidenum">
              <a:rPr lang="pl-PL" smtClean="0"/>
              <a:t>‹#›</a:t>
            </a:fld>
            <a:endParaRPr lang="pl-PL"/>
          </a:p>
        </p:txBody>
      </p:sp>
    </p:spTree>
    <p:extLst>
      <p:ext uri="{BB962C8B-B14F-4D97-AF65-F5344CB8AC3E}">
        <p14:creationId xmlns:p14="http://schemas.microsoft.com/office/powerpoint/2010/main" val="143235997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E802A-2DB1-4C66-A47E-83672714F8E1}" type="datetimeFigureOut">
              <a:rPr lang="pl-PL" smtClean="0"/>
              <a:t>20.05.2026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703CAA-9A2D-4291-8A92-1EFD8EAA2209}" type="slidenum">
              <a:rPr lang="pl-PL" smtClean="0"/>
              <a:t>‹#›</a:t>
            </a:fld>
            <a:endParaRPr lang="pl-PL"/>
          </a:p>
        </p:txBody>
      </p:sp>
    </p:spTree>
    <p:extLst>
      <p:ext uri="{BB962C8B-B14F-4D97-AF65-F5344CB8AC3E}">
        <p14:creationId xmlns:p14="http://schemas.microsoft.com/office/powerpoint/2010/main" val="291883711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FAC811C-77C6-0A43-6588-8932424ECB55}"/>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16F73F57-DA1B-3294-1551-0BE6AF32D1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D9177A3B-7A48-C54B-2F5F-EADEBD985C4A}"/>
              </a:ext>
            </a:extLst>
          </p:cNvPr>
          <p:cNvSpPr>
            <a:spLocks noGrp="1"/>
          </p:cNvSpPr>
          <p:nvPr>
            <p:ph type="dt" sz="half" idx="10"/>
          </p:nvPr>
        </p:nvSpPr>
        <p:spPr/>
        <p:txBody>
          <a:bodyPr/>
          <a:lstStyle/>
          <a:p>
            <a:r>
              <a:rPr lang="pl-PL"/>
              <a:t>Jakub Grzybowski</a:t>
            </a:r>
          </a:p>
        </p:txBody>
      </p:sp>
      <p:sp>
        <p:nvSpPr>
          <p:cNvPr id="5" name="Symbol zastępczy stopki 4">
            <a:extLst>
              <a:ext uri="{FF2B5EF4-FFF2-40B4-BE49-F238E27FC236}">
                <a16:creationId xmlns:a16="http://schemas.microsoft.com/office/drawing/2014/main" id="{009CFBA2-CEB2-12CE-6FB6-0476585FDF2F}"/>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E7FD678-F5AF-BE58-E19C-0AB6CEEFC584}"/>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999291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592CF8C-E980-58FD-7647-8637D396A977}"/>
              </a:ext>
            </a:extLst>
          </p:cNvPr>
          <p:cNvSpPr>
            <a:spLocks noGrp="1"/>
          </p:cNvSpPr>
          <p:nvPr>
            <p:ph type="title"/>
          </p:nvPr>
        </p:nvSpPr>
        <p:spPr/>
        <p:txBody>
          <a:bodyPr/>
          <a:lstStyle/>
          <a:p>
            <a:r>
              <a:rPr lang="pl-PL" dirty="0"/>
              <a:t>Kliknij, aby edytować styl</a:t>
            </a:r>
          </a:p>
        </p:txBody>
      </p:sp>
      <p:sp>
        <p:nvSpPr>
          <p:cNvPr id="3" name="Symbol zastępczy zawartości 2">
            <a:extLst>
              <a:ext uri="{FF2B5EF4-FFF2-40B4-BE49-F238E27FC236}">
                <a16:creationId xmlns:a16="http://schemas.microsoft.com/office/drawing/2014/main" id="{4CDA514A-2477-D812-6BC5-D43D519F0ED4}"/>
              </a:ext>
            </a:extLst>
          </p:cNvPr>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pl-PL" dirty="0"/>
              <a:t>Kliknij, aby edytować style wzorca tekstu</a:t>
            </a:r>
          </a:p>
          <a:p>
            <a:pPr lvl="1"/>
            <a:r>
              <a:rPr lang="pl-PL" dirty="0"/>
              <a:t>Drugi poziom</a:t>
            </a:r>
          </a:p>
          <a:p>
            <a:pPr lvl="2"/>
            <a:r>
              <a:rPr lang="pl-PL" dirty="0"/>
              <a:t>Trzeci poziom</a:t>
            </a:r>
          </a:p>
          <a:p>
            <a:pPr lvl="3"/>
            <a:r>
              <a:rPr lang="pl-PL" dirty="0"/>
              <a:t>Czwarty poziom</a:t>
            </a:r>
          </a:p>
          <a:p>
            <a:pPr lvl="4"/>
            <a:r>
              <a:rPr lang="pl-PL" dirty="0"/>
              <a:t>Piąty poziom</a:t>
            </a:r>
          </a:p>
        </p:txBody>
      </p:sp>
      <p:sp>
        <p:nvSpPr>
          <p:cNvPr id="24" name="Symbol zastępczy zawartości 2">
            <a:extLst>
              <a:ext uri="{FF2B5EF4-FFF2-40B4-BE49-F238E27FC236}">
                <a16:creationId xmlns:a16="http://schemas.microsoft.com/office/drawing/2014/main" id="{3B732D7C-FCDE-557D-2051-2DA2D9A57DBA}"/>
              </a:ext>
            </a:extLst>
          </p:cNvPr>
          <p:cNvSpPr txBox="1">
            <a:spLocks/>
          </p:cNvSpPr>
          <p:nvPr userDrawn="1"/>
        </p:nvSpPr>
        <p:spPr>
          <a:xfrm>
            <a:off x="0" y="6381135"/>
            <a:ext cx="6096000" cy="476866"/>
          </a:xfrm>
          <a:prstGeom prst="rect">
            <a:avLst/>
          </a:prstGeom>
          <a:solidFill>
            <a:srgbClr val="C8F0B4"/>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sz="2000" dirty="0"/>
              <a:t>   Jakub Grzybowski</a:t>
            </a:r>
          </a:p>
        </p:txBody>
      </p:sp>
      <p:sp>
        <p:nvSpPr>
          <p:cNvPr id="25" name="Symbol zastępczy zawartości 2">
            <a:extLst>
              <a:ext uri="{FF2B5EF4-FFF2-40B4-BE49-F238E27FC236}">
                <a16:creationId xmlns:a16="http://schemas.microsoft.com/office/drawing/2014/main" id="{8F8E9963-F23A-89E8-C8E3-71F845976471}"/>
              </a:ext>
            </a:extLst>
          </p:cNvPr>
          <p:cNvSpPr txBox="1">
            <a:spLocks/>
          </p:cNvSpPr>
          <p:nvPr userDrawn="1"/>
        </p:nvSpPr>
        <p:spPr>
          <a:xfrm>
            <a:off x="6096000" y="6386049"/>
            <a:ext cx="6096000" cy="471951"/>
          </a:xfrm>
          <a:prstGeom prst="rect">
            <a:avLst/>
          </a:prstGeom>
          <a:solidFill>
            <a:srgbClr val="C8F0B4"/>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l-PL" sz="2000" dirty="0" err="1"/>
              <a:t>Deep</a:t>
            </a:r>
            <a:r>
              <a:rPr lang="pl-PL" sz="2000" dirty="0"/>
              <a:t> Learning w chmurze 2026</a:t>
            </a:r>
          </a:p>
        </p:txBody>
      </p:sp>
      <p:pic>
        <p:nvPicPr>
          <p:cNvPr id="26" name="Obraz 25" descr="Obraz zawierający Grafika, sztuka, design, ilustracja&#10;&#10;Zawartość wygenerowana przez AI może być niepoprawna.">
            <a:extLst>
              <a:ext uri="{FF2B5EF4-FFF2-40B4-BE49-F238E27FC236}">
                <a16:creationId xmlns:a16="http://schemas.microsoft.com/office/drawing/2014/main" id="{7C3B9A3B-D1AA-BA35-3892-423002C110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78216" y="6401479"/>
            <a:ext cx="435567" cy="436178"/>
          </a:xfrm>
          <a:prstGeom prst="rect">
            <a:avLst/>
          </a:prstGeom>
        </p:spPr>
      </p:pic>
    </p:spTree>
    <p:extLst>
      <p:ext uri="{BB962C8B-B14F-4D97-AF65-F5344CB8AC3E}">
        <p14:creationId xmlns:p14="http://schemas.microsoft.com/office/powerpoint/2010/main" val="220704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agłówek sekcji">
    <p:spTree>
      <p:nvGrpSpPr>
        <p:cNvPr id="1" name=""/>
        <p:cNvGrpSpPr/>
        <p:nvPr/>
      </p:nvGrpSpPr>
      <p:grpSpPr>
        <a:xfrm>
          <a:off x="0" y="0"/>
          <a:ext cx="0" cy="0"/>
          <a:chOff x="0" y="0"/>
          <a:chExt cx="0" cy="0"/>
        </a:xfrm>
      </p:grpSpPr>
      <p:sp>
        <p:nvSpPr>
          <p:cNvPr id="9" name="Podtytuł 2">
            <a:extLst>
              <a:ext uri="{FF2B5EF4-FFF2-40B4-BE49-F238E27FC236}">
                <a16:creationId xmlns:a16="http://schemas.microsoft.com/office/drawing/2014/main" id="{F75C2AEE-0E74-43D5-90A2-5B226950AD47}"/>
              </a:ext>
            </a:extLst>
          </p:cNvPr>
          <p:cNvSpPr>
            <a:spLocks noGrp="1"/>
          </p:cNvSpPr>
          <p:nvPr>
            <p:ph type="subTitle" idx="13" hasCustomPrompt="1"/>
          </p:nvPr>
        </p:nvSpPr>
        <p:spPr>
          <a:xfrm>
            <a:off x="0" y="5454595"/>
            <a:ext cx="12192000" cy="1403404"/>
          </a:xfrm>
          <a:solidFill>
            <a:srgbClr val="C8F0B4"/>
          </a:solidFill>
        </p:spPr>
        <p:txBody>
          <a:bodyPr/>
          <a:lstStyle>
            <a:lvl1pPr>
              <a:buNone/>
              <a:defRPr/>
            </a:lvl1pPr>
          </a:lstStyle>
          <a:p>
            <a:r>
              <a:rPr lang="pl-PL" dirty="0"/>
              <a:t> </a:t>
            </a:r>
          </a:p>
        </p:txBody>
      </p:sp>
      <p:sp>
        <p:nvSpPr>
          <p:cNvPr id="2" name="Tytuł 1">
            <a:extLst>
              <a:ext uri="{FF2B5EF4-FFF2-40B4-BE49-F238E27FC236}">
                <a16:creationId xmlns:a16="http://schemas.microsoft.com/office/drawing/2014/main" id="{F5C5E14F-E747-DEA4-E71F-1B4CF89CAFB9}"/>
              </a:ext>
            </a:extLst>
          </p:cNvPr>
          <p:cNvSpPr>
            <a:spLocks noGrp="1"/>
          </p:cNvSpPr>
          <p:nvPr>
            <p:ph type="title"/>
          </p:nvPr>
        </p:nvSpPr>
        <p:spPr>
          <a:xfrm>
            <a:off x="838200" y="1285848"/>
            <a:ext cx="10515600" cy="2852737"/>
          </a:xfrm>
        </p:spPr>
        <p:txBody>
          <a:bodyPr anchor="b"/>
          <a:lstStyle>
            <a:lvl1pPr algn="ctr">
              <a:defRPr sz="6000"/>
            </a:lvl1pPr>
          </a:lstStyle>
          <a:p>
            <a:r>
              <a:rPr lang="pl-PL" dirty="0"/>
              <a:t>Kliknij, aby edytować styl</a:t>
            </a:r>
          </a:p>
        </p:txBody>
      </p:sp>
      <p:sp>
        <p:nvSpPr>
          <p:cNvPr id="3" name="Symbol zastępczy tekstu 2">
            <a:extLst>
              <a:ext uri="{FF2B5EF4-FFF2-40B4-BE49-F238E27FC236}">
                <a16:creationId xmlns:a16="http://schemas.microsoft.com/office/drawing/2014/main" id="{359C1F01-803B-14CA-F67A-61D11090B868}"/>
              </a:ext>
            </a:extLst>
          </p:cNvPr>
          <p:cNvSpPr>
            <a:spLocks noGrp="1"/>
          </p:cNvSpPr>
          <p:nvPr>
            <p:ph type="body" idx="1" hasCustomPrompt="1"/>
          </p:nvPr>
        </p:nvSpPr>
        <p:spPr>
          <a:xfrm>
            <a:off x="838200" y="4138586"/>
            <a:ext cx="10515600" cy="1501804"/>
          </a:xfrm>
        </p:spPr>
        <p:txBody>
          <a:bodyPr/>
          <a:lstStyle>
            <a:lvl1pPr marL="0" indent="0" algn="ctr">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dirty="0"/>
              <a:t>mgr inż. Jakub Grzybowski</a:t>
            </a:r>
          </a:p>
        </p:txBody>
      </p:sp>
      <p:sp>
        <p:nvSpPr>
          <p:cNvPr id="4" name="Symbol zastępczy daty 3">
            <a:extLst>
              <a:ext uri="{FF2B5EF4-FFF2-40B4-BE49-F238E27FC236}">
                <a16:creationId xmlns:a16="http://schemas.microsoft.com/office/drawing/2014/main" id="{9164596B-0FFB-DA4C-B552-706B1DF2F12F}"/>
              </a:ext>
            </a:extLst>
          </p:cNvPr>
          <p:cNvSpPr>
            <a:spLocks noGrp="1"/>
          </p:cNvSpPr>
          <p:nvPr>
            <p:ph type="dt" sz="half" idx="10"/>
          </p:nvPr>
        </p:nvSpPr>
        <p:spPr/>
        <p:txBody>
          <a:bodyPr/>
          <a:lstStyle/>
          <a:p>
            <a:r>
              <a:rPr lang="pl-PL"/>
              <a:t>Jakub Grzybowski</a:t>
            </a:r>
          </a:p>
        </p:txBody>
      </p:sp>
      <p:sp>
        <p:nvSpPr>
          <p:cNvPr id="5" name="Symbol zastępczy stopki 4">
            <a:extLst>
              <a:ext uri="{FF2B5EF4-FFF2-40B4-BE49-F238E27FC236}">
                <a16:creationId xmlns:a16="http://schemas.microsoft.com/office/drawing/2014/main" id="{6A3EB145-548B-EB6D-A6C1-8DCCDB1590CA}"/>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0DB78482-486B-E637-161E-2D7C1F9092EF}"/>
              </a:ext>
            </a:extLst>
          </p:cNvPr>
          <p:cNvSpPr>
            <a:spLocks noGrp="1"/>
          </p:cNvSpPr>
          <p:nvPr>
            <p:ph type="sldNum" sz="quarter" idx="12"/>
          </p:nvPr>
        </p:nvSpPr>
        <p:spPr/>
        <p:txBody>
          <a:bodyPr/>
          <a:lstStyle/>
          <a:p>
            <a:fld id="{F14B648E-3656-4CD9-8104-865718250148}" type="slidenum">
              <a:rPr lang="pl-PL" smtClean="0"/>
              <a:t>‹#›</a:t>
            </a:fld>
            <a:endParaRPr lang="pl-PL"/>
          </a:p>
        </p:txBody>
      </p:sp>
      <p:pic>
        <p:nvPicPr>
          <p:cNvPr id="11" name="Obraz 10" descr="Obraz zawierający Czcionka, Grafika, tekst, design&#10;&#10;Zawartość wygenerowana przez AI może być niepoprawna.">
            <a:extLst>
              <a:ext uri="{FF2B5EF4-FFF2-40B4-BE49-F238E27FC236}">
                <a16:creationId xmlns:a16="http://schemas.microsoft.com/office/drawing/2014/main" id="{B2033D3B-1797-165A-730B-1D832F6316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711002"/>
            <a:ext cx="2576051" cy="890590"/>
          </a:xfrm>
          <a:prstGeom prst="rect">
            <a:avLst/>
          </a:prstGeom>
        </p:spPr>
      </p:pic>
    </p:spTree>
    <p:extLst>
      <p:ext uri="{BB962C8B-B14F-4D97-AF65-F5344CB8AC3E}">
        <p14:creationId xmlns:p14="http://schemas.microsoft.com/office/powerpoint/2010/main" val="1582121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8EBBA33-0B98-6768-8F85-7A7F66C5B531}"/>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3DC682A4-391E-1715-F07B-51F61C066441}"/>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0AABCC95-BC3C-E6A2-01A7-E00080C5CBB1}"/>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90E1CADD-05E7-DC5B-044A-57D6339F52C4}"/>
              </a:ext>
            </a:extLst>
          </p:cNvPr>
          <p:cNvSpPr>
            <a:spLocks noGrp="1"/>
          </p:cNvSpPr>
          <p:nvPr>
            <p:ph type="dt" sz="half" idx="10"/>
          </p:nvPr>
        </p:nvSpPr>
        <p:spPr/>
        <p:txBody>
          <a:bodyPr/>
          <a:lstStyle/>
          <a:p>
            <a:r>
              <a:rPr lang="pl-PL"/>
              <a:t>Jakub Grzybowski</a:t>
            </a:r>
          </a:p>
        </p:txBody>
      </p:sp>
      <p:sp>
        <p:nvSpPr>
          <p:cNvPr id="6" name="Symbol zastępczy stopki 5">
            <a:extLst>
              <a:ext uri="{FF2B5EF4-FFF2-40B4-BE49-F238E27FC236}">
                <a16:creationId xmlns:a16="http://schemas.microsoft.com/office/drawing/2014/main" id="{604C3364-1CC2-1962-8449-C419A20E18D5}"/>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964B7CB6-468D-3256-C6BD-1D2FB0061015}"/>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2798082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E79B3EE-424F-FCCB-6C3A-959320D5FAAD}"/>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6D2F2A8D-4A88-428E-9C18-E93A9FC45B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DDFE17E3-CB8E-07A9-7847-1504F5A238AC}"/>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CE2CA80B-2E15-2334-06E6-CFCAA0A76C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12ACE277-C096-A737-DAF6-A868D029DC0D}"/>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236ECAF6-3567-16E0-232E-88BDD2F8258C}"/>
              </a:ext>
            </a:extLst>
          </p:cNvPr>
          <p:cNvSpPr>
            <a:spLocks noGrp="1"/>
          </p:cNvSpPr>
          <p:nvPr>
            <p:ph type="dt" sz="half" idx="10"/>
          </p:nvPr>
        </p:nvSpPr>
        <p:spPr/>
        <p:txBody>
          <a:bodyPr/>
          <a:lstStyle/>
          <a:p>
            <a:r>
              <a:rPr lang="pl-PL"/>
              <a:t>Jakub Grzybowski</a:t>
            </a:r>
          </a:p>
        </p:txBody>
      </p:sp>
      <p:sp>
        <p:nvSpPr>
          <p:cNvPr id="8" name="Symbol zastępczy stopki 7">
            <a:extLst>
              <a:ext uri="{FF2B5EF4-FFF2-40B4-BE49-F238E27FC236}">
                <a16:creationId xmlns:a16="http://schemas.microsoft.com/office/drawing/2014/main" id="{DC9A0AFA-7B14-4049-0D47-115328997A87}"/>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76D55484-58A7-3772-D973-B730A811CA9E}"/>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3464425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2627D8D-7E07-E73E-375A-2A8C11975743}"/>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A4D85626-E8ED-CD7F-03B8-63695F0B59EF}"/>
              </a:ext>
            </a:extLst>
          </p:cNvPr>
          <p:cNvSpPr>
            <a:spLocks noGrp="1"/>
          </p:cNvSpPr>
          <p:nvPr>
            <p:ph type="dt" sz="half" idx="10"/>
          </p:nvPr>
        </p:nvSpPr>
        <p:spPr/>
        <p:txBody>
          <a:bodyPr/>
          <a:lstStyle/>
          <a:p>
            <a:r>
              <a:rPr lang="pl-PL"/>
              <a:t>Jakub Grzybowski</a:t>
            </a:r>
          </a:p>
        </p:txBody>
      </p:sp>
      <p:sp>
        <p:nvSpPr>
          <p:cNvPr id="4" name="Symbol zastępczy stopki 3">
            <a:extLst>
              <a:ext uri="{FF2B5EF4-FFF2-40B4-BE49-F238E27FC236}">
                <a16:creationId xmlns:a16="http://schemas.microsoft.com/office/drawing/2014/main" id="{502A9DEC-77E4-113C-79F4-AF26FAD2480A}"/>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EC503DBA-0564-B9D6-A1B3-09F0187DDCBA}"/>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2826872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6E23D433-236D-57E4-67D0-EB16CF5E98E8}"/>
              </a:ext>
            </a:extLst>
          </p:cNvPr>
          <p:cNvSpPr>
            <a:spLocks noGrp="1"/>
          </p:cNvSpPr>
          <p:nvPr>
            <p:ph type="dt" sz="half" idx="10"/>
          </p:nvPr>
        </p:nvSpPr>
        <p:spPr/>
        <p:txBody>
          <a:bodyPr/>
          <a:lstStyle/>
          <a:p>
            <a:r>
              <a:rPr lang="pl-PL"/>
              <a:t>Jakub Grzybowski</a:t>
            </a:r>
          </a:p>
        </p:txBody>
      </p:sp>
      <p:sp>
        <p:nvSpPr>
          <p:cNvPr id="3" name="Symbol zastępczy stopki 2">
            <a:extLst>
              <a:ext uri="{FF2B5EF4-FFF2-40B4-BE49-F238E27FC236}">
                <a16:creationId xmlns:a16="http://schemas.microsoft.com/office/drawing/2014/main" id="{7FBE528A-3628-882D-4B97-CD19A5A38639}"/>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141A932B-F1EE-A2EF-7EAE-6C3FEA999EC5}"/>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829288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03581EC-1897-C1AC-05F8-CCBB0D116C70}"/>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036B6F82-BB1E-5EB7-8BAC-F4449A2C38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40B8C8A1-A332-96DB-C6ED-B8786503FC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8C0834B3-CDB7-71EF-D0B3-66E7A7AFE306}"/>
              </a:ext>
            </a:extLst>
          </p:cNvPr>
          <p:cNvSpPr>
            <a:spLocks noGrp="1"/>
          </p:cNvSpPr>
          <p:nvPr>
            <p:ph type="dt" sz="half" idx="10"/>
          </p:nvPr>
        </p:nvSpPr>
        <p:spPr/>
        <p:txBody>
          <a:bodyPr/>
          <a:lstStyle/>
          <a:p>
            <a:r>
              <a:rPr lang="pl-PL"/>
              <a:t>Jakub Grzybowski</a:t>
            </a:r>
          </a:p>
        </p:txBody>
      </p:sp>
      <p:sp>
        <p:nvSpPr>
          <p:cNvPr id="6" name="Symbol zastępczy stopki 5">
            <a:extLst>
              <a:ext uri="{FF2B5EF4-FFF2-40B4-BE49-F238E27FC236}">
                <a16:creationId xmlns:a16="http://schemas.microsoft.com/office/drawing/2014/main" id="{36C04A15-5CB0-0140-E541-291DA84AA90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12CB482D-71E9-8FBD-BA4F-4F42150E8753}"/>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5252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F5988F4-82F9-0EC5-A1E0-3AFA7F6618BC}"/>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3049B125-9A72-063A-1E14-E7EB495E2C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A216CE3D-3CFA-564F-D13A-F05F9C240B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ED7BE68E-28F8-4DEE-36D6-8A5C4F20856B}"/>
              </a:ext>
            </a:extLst>
          </p:cNvPr>
          <p:cNvSpPr>
            <a:spLocks noGrp="1"/>
          </p:cNvSpPr>
          <p:nvPr>
            <p:ph type="dt" sz="half" idx="10"/>
          </p:nvPr>
        </p:nvSpPr>
        <p:spPr/>
        <p:txBody>
          <a:bodyPr/>
          <a:lstStyle/>
          <a:p>
            <a:r>
              <a:rPr lang="pl-PL"/>
              <a:t>Jakub Grzybowski</a:t>
            </a:r>
          </a:p>
        </p:txBody>
      </p:sp>
      <p:sp>
        <p:nvSpPr>
          <p:cNvPr id="6" name="Symbol zastępczy stopki 5">
            <a:extLst>
              <a:ext uri="{FF2B5EF4-FFF2-40B4-BE49-F238E27FC236}">
                <a16:creationId xmlns:a16="http://schemas.microsoft.com/office/drawing/2014/main" id="{F31CFD49-C555-CA16-BA84-41A2CCACE982}"/>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5D9EBCE9-FA3C-D76C-78A0-6585A9F7A7D0}"/>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3496102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84707B6-585E-A500-FDEB-C360139D355E}"/>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A98343BC-0B78-9541-E17B-83421E82E500}"/>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591B59D-5FBF-2870-987E-EED422760A46}"/>
              </a:ext>
            </a:extLst>
          </p:cNvPr>
          <p:cNvSpPr>
            <a:spLocks noGrp="1"/>
          </p:cNvSpPr>
          <p:nvPr>
            <p:ph type="dt" sz="half" idx="10"/>
          </p:nvPr>
        </p:nvSpPr>
        <p:spPr/>
        <p:txBody>
          <a:bodyPr/>
          <a:lstStyle/>
          <a:p>
            <a:r>
              <a:rPr lang="pl-PL"/>
              <a:t>Jakub Grzybowski</a:t>
            </a:r>
          </a:p>
        </p:txBody>
      </p:sp>
      <p:sp>
        <p:nvSpPr>
          <p:cNvPr id="5" name="Symbol zastępczy stopki 4">
            <a:extLst>
              <a:ext uri="{FF2B5EF4-FFF2-40B4-BE49-F238E27FC236}">
                <a16:creationId xmlns:a16="http://schemas.microsoft.com/office/drawing/2014/main" id="{D788FA1B-7623-EF8A-38AB-94EE71BE4A1D}"/>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D5F5287-2F04-850C-3DFF-3924D8295007}"/>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59636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85C38186-8238-F825-F45F-890C01FAF737}"/>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80208EBA-89D6-3E31-F518-0ACC1F9054A3}"/>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7F5D1D76-D562-F709-AA54-223F41142A9E}"/>
              </a:ext>
            </a:extLst>
          </p:cNvPr>
          <p:cNvSpPr>
            <a:spLocks noGrp="1"/>
          </p:cNvSpPr>
          <p:nvPr>
            <p:ph type="dt" sz="half" idx="10"/>
          </p:nvPr>
        </p:nvSpPr>
        <p:spPr/>
        <p:txBody>
          <a:bodyPr/>
          <a:lstStyle/>
          <a:p>
            <a:r>
              <a:rPr lang="pl-PL"/>
              <a:t>Jakub Grzybowski</a:t>
            </a:r>
          </a:p>
        </p:txBody>
      </p:sp>
      <p:sp>
        <p:nvSpPr>
          <p:cNvPr id="5" name="Symbol zastępczy stopki 4">
            <a:extLst>
              <a:ext uri="{FF2B5EF4-FFF2-40B4-BE49-F238E27FC236}">
                <a16:creationId xmlns:a16="http://schemas.microsoft.com/office/drawing/2014/main" id="{B9872C82-4256-638D-524D-9CE5ED348896}"/>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2FFD2DD-5321-D035-2F9B-2C62D15A122B}"/>
              </a:ext>
            </a:extLst>
          </p:cNvPr>
          <p:cNvSpPr>
            <a:spLocks noGrp="1"/>
          </p:cNvSpPr>
          <p:nvPr>
            <p:ph type="sldNum" sz="quarter" idx="12"/>
          </p:nvPr>
        </p:nvSpPr>
        <p:spPr/>
        <p:txBody>
          <a:bodyPr/>
          <a:lstStyle/>
          <a:p>
            <a:fld id="{F14B648E-3656-4CD9-8104-865718250148}" type="slidenum">
              <a:rPr lang="pl-PL" smtClean="0"/>
              <a:t>‹#›</a:t>
            </a:fld>
            <a:endParaRPr lang="pl-PL"/>
          </a:p>
        </p:txBody>
      </p:sp>
    </p:spTree>
    <p:extLst>
      <p:ext uri="{BB962C8B-B14F-4D97-AF65-F5344CB8AC3E}">
        <p14:creationId xmlns:p14="http://schemas.microsoft.com/office/powerpoint/2010/main" val="2011991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B31364B1-68B4-F4E8-B75B-806FE567C5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FE0E28D6-2E88-1881-AF94-5EF38ED589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21FFB977-42E4-50B4-9F5E-876B369C67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pl-PL"/>
              <a:t>Jakub Grzybowski</a:t>
            </a:r>
          </a:p>
        </p:txBody>
      </p:sp>
      <p:sp>
        <p:nvSpPr>
          <p:cNvPr id="5" name="Symbol zastępczy stopki 4">
            <a:extLst>
              <a:ext uri="{FF2B5EF4-FFF2-40B4-BE49-F238E27FC236}">
                <a16:creationId xmlns:a16="http://schemas.microsoft.com/office/drawing/2014/main" id="{3AF20047-E53E-39BE-C9FA-5328340DDB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0AEC89B0-4F2A-9E80-3D6B-8732AD94E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4B648E-3656-4CD9-8104-865718250148}" type="slidenum">
              <a:rPr lang="pl-PL" smtClean="0"/>
              <a:t>‹#›</a:t>
            </a:fld>
            <a:endParaRPr lang="pl-PL"/>
          </a:p>
        </p:txBody>
      </p:sp>
    </p:spTree>
    <p:extLst>
      <p:ext uri="{BB962C8B-B14F-4D97-AF65-F5344CB8AC3E}">
        <p14:creationId xmlns:p14="http://schemas.microsoft.com/office/powerpoint/2010/main" val="2532939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odtytuł 2">
            <a:extLst>
              <a:ext uri="{FF2B5EF4-FFF2-40B4-BE49-F238E27FC236}">
                <a16:creationId xmlns:a16="http://schemas.microsoft.com/office/drawing/2014/main" id="{AE6DE1AB-2AB9-6F0D-CD45-EE7355B9D3AF}"/>
              </a:ext>
            </a:extLst>
          </p:cNvPr>
          <p:cNvSpPr>
            <a:spLocks noGrp="1"/>
          </p:cNvSpPr>
          <p:nvPr>
            <p:ph type="subTitle" idx="13"/>
          </p:nvPr>
        </p:nvSpPr>
        <p:spPr>
          <a:solidFill>
            <a:srgbClr val="C8F0B4"/>
          </a:solidFill>
        </p:spPr>
        <p:txBody>
          <a:bodyPr/>
          <a:lstStyle/>
          <a:p>
            <a:r>
              <a:rPr lang="pl-PL" dirty="0"/>
              <a:t> </a:t>
            </a:r>
          </a:p>
        </p:txBody>
      </p:sp>
      <p:sp>
        <p:nvSpPr>
          <p:cNvPr id="9" name="Tytuł 1">
            <a:extLst>
              <a:ext uri="{FF2B5EF4-FFF2-40B4-BE49-F238E27FC236}">
                <a16:creationId xmlns:a16="http://schemas.microsoft.com/office/drawing/2014/main" id="{D56B975A-D7A0-A961-6DD5-65CA08774F65}"/>
              </a:ext>
            </a:extLst>
          </p:cNvPr>
          <p:cNvSpPr>
            <a:spLocks noGrp="1"/>
          </p:cNvSpPr>
          <p:nvPr>
            <p:ph type="title"/>
          </p:nvPr>
        </p:nvSpPr>
        <p:spPr>
          <a:xfrm>
            <a:off x="838200" y="1285849"/>
            <a:ext cx="10515600" cy="2757490"/>
          </a:xfrm>
        </p:spPr>
        <p:txBody>
          <a:bodyPr/>
          <a:lstStyle/>
          <a:p>
            <a:r>
              <a:rPr lang="pl-PL" dirty="0"/>
              <a:t>Przetwarzanie sygnałów dźwiękowych</a:t>
            </a:r>
          </a:p>
        </p:txBody>
      </p:sp>
      <p:sp>
        <p:nvSpPr>
          <p:cNvPr id="2" name="Symbol zastępczy tekstu 1">
            <a:extLst>
              <a:ext uri="{FF2B5EF4-FFF2-40B4-BE49-F238E27FC236}">
                <a16:creationId xmlns:a16="http://schemas.microsoft.com/office/drawing/2014/main" id="{E9D54D35-40DA-B4DC-B27D-099BAC01325C}"/>
              </a:ext>
            </a:extLst>
          </p:cNvPr>
          <p:cNvSpPr>
            <a:spLocks noGrp="1"/>
          </p:cNvSpPr>
          <p:nvPr>
            <p:ph type="body" idx="1"/>
          </p:nvPr>
        </p:nvSpPr>
        <p:spPr/>
        <p:txBody>
          <a:bodyPr/>
          <a:lstStyle/>
          <a:p>
            <a:r>
              <a:rPr lang="pl-PL" dirty="0"/>
              <a:t>mgr inż. Jakub Grzybowski</a:t>
            </a:r>
          </a:p>
        </p:txBody>
      </p:sp>
      <p:pic>
        <p:nvPicPr>
          <p:cNvPr id="11" name="Obraz 10" descr="Obraz zawierający Czcionka, Grafika, tekst, design&#10;&#10;Zawartość wygenerowana przez AI może być niepoprawna.">
            <a:extLst>
              <a:ext uri="{FF2B5EF4-FFF2-40B4-BE49-F238E27FC236}">
                <a16:creationId xmlns:a16="http://schemas.microsoft.com/office/drawing/2014/main" id="{CC606C69-B87E-B656-6F20-C75E851A0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129" y="5735637"/>
            <a:ext cx="2576051" cy="890590"/>
          </a:xfrm>
          <a:prstGeom prst="rect">
            <a:avLst/>
          </a:prstGeom>
        </p:spPr>
      </p:pic>
    </p:spTree>
    <p:extLst>
      <p:ext uri="{BB962C8B-B14F-4D97-AF65-F5344CB8AC3E}">
        <p14:creationId xmlns:p14="http://schemas.microsoft.com/office/powerpoint/2010/main" val="809049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09DF8B0-CB36-DCCC-1AF6-6F6C5E1DCCA9}"/>
              </a:ext>
            </a:extLst>
          </p:cNvPr>
          <p:cNvSpPr>
            <a:spLocks noGrp="1"/>
          </p:cNvSpPr>
          <p:nvPr>
            <p:ph type="title"/>
          </p:nvPr>
        </p:nvSpPr>
        <p:spPr/>
        <p:txBody>
          <a:bodyPr/>
          <a:lstStyle/>
          <a:p>
            <a:r>
              <a:rPr lang="pl-PL" dirty="0"/>
              <a:t>Plan prezentacji</a:t>
            </a:r>
          </a:p>
        </p:txBody>
      </p:sp>
      <p:sp>
        <p:nvSpPr>
          <p:cNvPr id="3" name="Symbol zastępczy zawartości 2">
            <a:extLst>
              <a:ext uri="{FF2B5EF4-FFF2-40B4-BE49-F238E27FC236}">
                <a16:creationId xmlns:a16="http://schemas.microsoft.com/office/drawing/2014/main" id="{DE8D2B55-3416-85E1-3FF7-9362572AEAE9}"/>
              </a:ext>
            </a:extLst>
          </p:cNvPr>
          <p:cNvSpPr>
            <a:spLocks noGrp="1"/>
          </p:cNvSpPr>
          <p:nvPr>
            <p:ph idx="1"/>
          </p:nvPr>
        </p:nvSpPr>
        <p:spPr/>
        <p:txBody>
          <a:bodyPr/>
          <a:lstStyle/>
          <a:p>
            <a:pPr marL="514350" indent="-514350">
              <a:buFont typeface="+mj-lt"/>
              <a:buAutoNum type="arabicPeriod"/>
            </a:pPr>
            <a:r>
              <a:rPr lang="pl-PL" dirty="0"/>
              <a:t>Czym jest dźwięk?</a:t>
            </a:r>
          </a:p>
          <a:p>
            <a:pPr marL="514350" indent="-514350">
              <a:buFont typeface="+mj-lt"/>
              <a:buAutoNum type="arabicPeriod"/>
            </a:pPr>
            <a:r>
              <a:rPr lang="pl-PL" dirty="0"/>
              <a:t>Jak opisujemy sygnał audio?</a:t>
            </a:r>
          </a:p>
          <a:p>
            <a:pPr marL="514350" indent="-514350">
              <a:buFont typeface="+mj-lt"/>
              <a:buAutoNum type="arabicPeriod"/>
            </a:pPr>
            <a:r>
              <a:rPr lang="pl-PL" dirty="0"/>
              <a:t>Ton podstawowy i harmoniczne</a:t>
            </a:r>
          </a:p>
          <a:p>
            <a:pPr marL="514350" indent="-514350">
              <a:buFont typeface="+mj-lt"/>
              <a:buAutoNum type="arabicPeriod"/>
            </a:pPr>
            <a:r>
              <a:rPr lang="pl-PL" dirty="0"/>
              <a:t>Widmo i spektrum</a:t>
            </a:r>
          </a:p>
          <a:p>
            <a:pPr marL="514350" indent="-514350">
              <a:buFont typeface="+mj-lt"/>
              <a:buAutoNum type="arabicPeriod"/>
            </a:pPr>
            <a:r>
              <a:rPr lang="pl-PL" dirty="0"/>
              <a:t>Transformata Fouriera</a:t>
            </a:r>
          </a:p>
          <a:p>
            <a:pPr marL="514350" indent="-514350">
              <a:buFont typeface="+mj-lt"/>
              <a:buAutoNum type="arabicPeriod"/>
            </a:pPr>
            <a:r>
              <a:rPr lang="pl-PL" dirty="0"/>
              <a:t>Przygotowanie danych audio</a:t>
            </a:r>
          </a:p>
          <a:p>
            <a:pPr marL="514350" indent="-514350">
              <a:buFont typeface="+mj-lt"/>
              <a:buAutoNum type="arabicPeriod"/>
            </a:pPr>
            <a:r>
              <a:rPr lang="pl-PL" dirty="0"/>
              <a:t>Klasyfikacja dźwięku</a:t>
            </a:r>
          </a:p>
        </p:txBody>
      </p:sp>
    </p:spTree>
    <p:extLst>
      <p:ext uri="{BB962C8B-B14F-4D97-AF65-F5344CB8AC3E}">
        <p14:creationId xmlns:p14="http://schemas.microsoft.com/office/powerpoint/2010/main" val="4249637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290A650-2CE0-318C-DA40-26384A507592}"/>
              </a:ext>
            </a:extLst>
          </p:cNvPr>
          <p:cNvSpPr>
            <a:spLocks noGrp="1"/>
          </p:cNvSpPr>
          <p:nvPr>
            <p:ph type="title"/>
          </p:nvPr>
        </p:nvSpPr>
        <p:spPr/>
        <p:txBody>
          <a:bodyPr/>
          <a:lstStyle/>
          <a:p>
            <a:r>
              <a:rPr lang="pl-PL" dirty="0"/>
              <a:t>Czym jest dźwięk?</a:t>
            </a:r>
          </a:p>
        </p:txBody>
      </p:sp>
      <p:sp>
        <p:nvSpPr>
          <p:cNvPr id="3" name="Symbol zastępczy zawartości 2">
            <a:extLst>
              <a:ext uri="{FF2B5EF4-FFF2-40B4-BE49-F238E27FC236}">
                <a16:creationId xmlns:a16="http://schemas.microsoft.com/office/drawing/2014/main" id="{2B873524-4FD3-FAC4-A531-64514B48F539}"/>
              </a:ext>
            </a:extLst>
          </p:cNvPr>
          <p:cNvSpPr>
            <a:spLocks noGrp="1"/>
          </p:cNvSpPr>
          <p:nvPr>
            <p:ph idx="1"/>
          </p:nvPr>
        </p:nvSpPr>
        <p:spPr/>
        <p:txBody>
          <a:bodyPr>
            <a:normAutofit/>
          </a:bodyPr>
          <a:lstStyle/>
          <a:p>
            <a:pPr marL="0" indent="0">
              <a:buNone/>
            </a:pPr>
            <a:r>
              <a:rPr lang="pl-PL" dirty="0"/>
              <a:t>Dźwięk jako fala</a:t>
            </a:r>
          </a:p>
          <a:p>
            <a:r>
              <a:rPr lang="pl-PL" dirty="0"/>
              <a:t>Dźwięk to fala mechaniczna</a:t>
            </a:r>
          </a:p>
          <a:p>
            <a:r>
              <a:rPr lang="pl-PL" dirty="0"/>
              <a:t>Powstaje wskutek drgań</a:t>
            </a:r>
          </a:p>
          <a:p>
            <a:r>
              <a:rPr lang="pl-PL" dirty="0"/>
              <a:t>Rozchodzi się w ośrodku</a:t>
            </a:r>
          </a:p>
          <a:p>
            <a:r>
              <a:rPr lang="pl-PL" dirty="0"/>
              <a:t>Ucho odbiera zmiany ciśnienia akustycznego</a:t>
            </a:r>
          </a:p>
          <a:p>
            <a:pPr marL="0" indent="0" algn="l">
              <a:buNone/>
            </a:pPr>
            <a:r>
              <a:rPr lang="pl-PL" dirty="0"/>
              <a:t>Przykłady</a:t>
            </a:r>
          </a:p>
          <a:p>
            <a:pPr algn="l"/>
            <a:r>
              <a:rPr lang="pl-PL" dirty="0"/>
              <a:t>Głos człowieka</a:t>
            </a:r>
          </a:p>
          <a:p>
            <a:pPr algn="l"/>
            <a:r>
              <a:rPr lang="pl-PL" dirty="0"/>
              <a:t>Dźwięk instrumentu muzycznego</a:t>
            </a:r>
          </a:p>
        </p:txBody>
      </p:sp>
    </p:spTree>
    <p:extLst>
      <p:ext uri="{BB962C8B-B14F-4D97-AF65-F5344CB8AC3E}">
        <p14:creationId xmlns:p14="http://schemas.microsoft.com/office/powerpoint/2010/main" val="3184328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592F9C5-0352-6171-7BA2-EF600F269BE2}"/>
              </a:ext>
            </a:extLst>
          </p:cNvPr>
          <p:cNvSpPr>
            <a:spLocks noGrp="1"/>
          </p:cNvSpPr>
          <p:nvPr>
            <p:ph type="title"/>
          </p:nvPr>
        </p:nvSpPr>
        <p:spPr/>
        <p:txBody>
          <a:bodyPr/>
          <a:lstStyle/>
          <a:p>
            <a:r>
              <a:rPr lang="pl-PL" dirty="0"/>
              <a:t>Jak komputer zapisuje dźwięk?</a:t>
            </a:r>
          </a:p>
        </p:txBody>
      </p:sp>
      <p:sp>
        <p:nvSpPr>
          <p:cNvPr id="3" name="Symbol zastępczy zawartości 2">
            <a:extLst>
              <a:ext uri="{FF2B5EF4-FFF2-40B4-BE49-F238E27FC236}">
                <a16:creationId xmlns:a16="http://schemas.microsoft.com/office/drawing/2014/main" id="{1D8B89B9-B3D7-31B8-2252-06E4FFE16B3C}"/>
              </a:ext>
            </a:extLst>
          </p:cNvPr>
          <p:cNvSpPr>
            <a:spLocks noGrp="1"/>
          </p:cNvSpPr>
          <p:nvPr>
            <p:ph idx="1"/>
          </p:nvPr>
        </p:nvSpPr>
        <p:spPr>
          <a:xfrm>
            <a:off x="838200" y="1825625"/>
            <a:ext cx="5257800" cy="1791335"/>
          </a:xfrm>
        </p:spPr>
        <p:txBody>
          <a:bodyPr/>
          <a:lstStyle/>
          <a:p>
            <a:pPr marL="0" indent="0">
              <a:buNone/>
            </a:pPr>
            <a:r>
              <a:rPr lang="pl-PL" b="1" dirty="0"/>
              <a:t>Dźwięk analogowy</a:t>
            </a:r>
          </a:p>
          <a:p>
            <a:r>
              <a:rPr lang="pl-PL" dirty="0"/>
              <a:t>Ciągły sygnał</a:t>
            </a:r>
          </a:p>
          <a:p>
            <a:r>
              <a:rPr lang="pl-PL" dirty="0"/>
              <a:t>Naturalna fala</a:t>
            </a:r>
          </a:p>
        </p:txBody>
      </p:sp>
      <p:sp>
        <p:nvSpPr>
          <p:cNvPr id="4" name="Symbol zastępczy zawartości 2">
            <a:extLst>
              <a:ext uri="{FF2B5EF4-FFF2-40B4-BE49-F238E27FC236}">
                <a16:creationId xmlns:a16="http://schemas.microsoft.com/office/drawing/2014/main" id="{BCFD9EDE-E8ED-D6A9-EE93-196E9C0D53A3}"/>
              </a:ext>
            </a:extLst>
          </p:cNvPr>
          <p:cNvSpPr txBox="1">
            <a:spLocks/>
          </p:cNvSpPr>
          <p:nvPr/>
        </p:nvSpPr>
        <p:spPr>
          <a:xfrm>
            <a:off x="6096000" y="1825625"/>
            <a:ext cx="5257800" cy="1791335"/>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l-PL" b="1" dirty="0"/>
              <a:t>Dźwięk cyfrowy</a:t>
            </a:r>
          </a:p>
          <a:p>
            <a:r>
              <a:rPr lang="pl-PL" dirty="0"/>
              <a:t>Próbki sygnału</a:t>
            </a:r>
          </a:p>
          <a:p>
            <a:r>
              <a:rPr lang="pl-PL" dirty="0"/>
              <a:t>Zapis liczbowy</a:t>
            </a:r>
          </a:p>
        </p:txBody>
      </p:sp>
      <p:sp>
        <p:nvSpPr>
          <p:cNvPr id="5" name="Symbol zastępczy zawartości 2">
            <a:extLst>
              <a:ext uri="{FF2B5EF4-FFF2-40B4-BE49-F238E27FC236}">
                <a16:creationId xmlns:a16="http://schemas.microsoft.com/office/drawing/2014/main" id="{F9EF9450-D774-4F7D-8AC3-75B7DFDE5B24}"/>
              </a:ext>
            </a:extLst>
          </p:cNvPr>
          <p:cNvSpPr txBox="1">
            <a:spLocks/>
          </p:cNvSpPr>
          <p:nvPr/>
        </p:nvSpPr>
        <p:spPr>
          <a:xfrm>
            <a:off x="838200" y="3877945"/>
            <a:ext cx="10515600" cy="1791335"/>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l-PL" dirty="0"/>
              <a:t>Dźwięk próbkowany jest z pewną częstotliwością </a:t>
            </a:r>
            <a:r>
              <a:rPr lang="pl-PL" i="1" dirty="0" err="1"/>
              <a:t>sampling</a:t>
            </a:r>
            <a:r>
              <a:rPr lang="pl-PL" i="1" dirty="0"/>
              <a:t> </a:t>
            </a:r>
            <a:r>
              <a:rPr lang="pl-PL" i="1" dirty="0" err="1"/>
              <a:t>rate</a:t>
            </a:r>
            <a:r>
              <a:rPr lang="pl-PL" i="1" dirty="0"/>
              <a:t> </a:t>
            </a:r>
            <a:r>
              <a:rPr lang="pl-PL" dirty="0"/>
              <a:t>(np. 44.1kHz = 0.05s), a każda próbka zapisywana jest z pewną rozdzielczością bitową </a:t>
            </a:r>
            <a:r>
              <a:rPr lang="pl-PL" i="1" dirty="0"/>
              <a:t>bit </a:t>
            </a:r>
            <a:r>
              <a:rPr lang="pl-PL" i="1" dirty="0" err="1"/>
              <a:t>depth</a:t>
            </a:r>
            <a:r>
              <a:rPr lang="pl-PL" i="1" dirty="0"/>
              <a:t> </a:t>
            </a:r>
            <a:r>
              <a:rPr lang="pl-PL" dirty="0"/>
              <a:t>(np. 16-bit, 24-bit).</a:t>
            </a:r>
            <a:endParaRPr lang="pl-PL" i="1" dirty="0"/>
          </a:p>
        </p:txBody>
      </p:sp>
    </p:spTree>
    <p:extLst>
      <p:ext uri="{BB962C8B-B14F-4D97-AF65-F5344CB8AC3E}">
        <p14:creationId xmlns:p14="http://schemas.microsoft.com/office/powerpoint/2010/main" val="3352265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B99DAA-15CD-E1A1-C3BE-B47AD4CBCB28}"/>
              </a:ext>
            </a:extLst>
          </p:cNvPr>
          <p:cNvSpPr>
            <a:spLocks noGrp="1"/>
          </p:cNvSpPr>
          <p:nvPr>
            <p:ph type="title"/>
          </p:nvPr>
        </p:nvSpPr>
        <p:spPr/>
        <p:txBody>
          <a:bodyPr/>
          <a:lstStyle/>
          <a:p>
            <a:r>
              <a:rPr lang="pl-PL" dirty="0"/>
              <a:t>Najprostszy sygnał audio</a:t>
            </a:r>
          </a:p>
        </p:txBody>
      </p:sp>
      <mc:AlternateContent xmlns:mc="http://schemas.openxmlformats.org/markup-compatibility/2006">
        <mc:Choice xmlns:a14="http://schemas.microsoft.com/office/drawing/2010/main" Requires="a14">
          <p:sp>
            <p:nvSpPr>
              <p:cNvPr id="3" name="Symbol zastępczy zawartości 2">
                <a:extLst>
                  <a:ext uri="{FF2B5EF4-FFF2-40B4-BE49-F238E27FC236}">
                    <a16:creationId xmlns:a16="http://schemas.microsoft.com/office/drawing/2014/main" id="{A4039485-BE7F-6F8A-27BF-A09B6F938DB1}"/>
                  </a:ext>
                </a:extLst>
              </p:cNvPr>
              <p:cNvSpPr>
                <a:spLocks noGrp="1"/>
              </p:cNvSpPr>
              <p:nvPr>
                <p:ph idx="1"/>
              </p:nvPr>
            </p:nvSpPr>
            <p:spPr>
              <a:xfrm>
                <a:off x="838200" y="1825625"/>
                <a:ext cx="4881880" cy="4351338"/>
              </a:xfrm>
            </p:spPr>
            <p:txBody>
              <a:bodyPr/>
              <a:lstStyle/>
              <a:p>
                <a:pPr marL="0" indent="0">
                  <a:buNone/>
                </a:pPr>
                <a14:m>
                  <m:oMathPara xmlns:m="http://schemas.openxmlformats.org/officeDocument/2006/math">
                    <m:oMathParaPr>
                      <m:jc m:val="left"/>
                    </m:oMathParaPr>
                    <m:oMath xmlns:m="http://schemas.openxmlformats.org/officeDocument/2006/math">
                      <m:r>
                        <a:rPr lang="pl-PL" b="0" i="1" smtClean="0">
                          <a:latin typeface="Cambria Math" panose="02040503050406030204" pitchFamily="18" charset="0"/>
                        </a:rPr>
                        <m:t>𝑦</m:t>
                      </m:r>
                      <m:d>
                        <m:dPr>
                          <m:ctrlPr>
                            <a:rPr lang="pl-PL" b="0" i="1" smtClean="0">
                              <a:latin typeface="Cambria Math" panose="02040503050406030204" pitchFamily="18" charset="0"/>
                            </a:rPr>
                          </m:ctrlPr>
                        </m:dPr>
                        <m:e>
                          <m:r>
                            <a:rPr lang="pl-PL" b="0" i="1" smtClean="0">
                              <a:latin typeface="Cambria Math" panose="02040503050406030204" pitchFamily="18" charset="0"/>
                            </a:rPr>
                            <m:t>𝑡</m:t>
                          </m:r>
                        </m:e>
                      </m:d>
                      <m:r>
                        <a:rPr lang="pl-PL" b="0" i="1" smtClean="0">
                          <a:latin typeface="Cambria Math" panose="02040503050406030204" pitchFamily="18" charset="0"/>
                        </a:rPr>
                        <m:t>=</m:t>
                      </m:r>
                      <m:r>
                        <a:rPr lang="pl-PL" b="0" i="1" smtClean="0">
                          <a:latin typeface="Cambria Math" panose="02040503050406030204" pitchFamily="18" charset="0"/>
                        </a:rPr>
                        <m:t>𝐴𝑠𝑖𝑛</m:t>
                      </m:r>
                      <m:r>
                        <a:rPr lang="pl-PL" b="0" i="1" smtClean="0">
                          <a:latin typeface="Cambria Math" panose="02040503050406030204" pitchFamily="18" charset="0"/>
                        </a:rPr>
                        <m:t>(2</m:t>
                      </m:r>
                      <m:r>
                        <a:rPr lang="pl-PL" b="0" i="1" smtClean="0">
                          <a:latin typeface="Cambria Math" panose="02040503050406030204" pitchFamily="18" charset="0"/>
                          <a:ea typeface="Cambria Math" panose="02040503050406030204" pitchFamily="18" charset="0"/>
                        </a:rPr>
                        <m:t>𝜋</m:t>
                      </m:r>
                      <m:r>
                        <a:rPr lang="pl-PL" b="0" i="1" smtClean="0">
                          <a:latin typeface="Cambria Math" panose="02040503050406030204" pitchFamily="18" charset="0"/>
                          <a:ea typeface="Cambria Math" panose="02040503050406030204" pitchFamily="18" charset="0"/>
                        </a:rPr>
                        <m:t>𝑓𝑡</m:t>
                      </m:r>
                      <m:r>
                        <a:rPr lang="pl-PL" b="0" i="1" smtClean="0">
                          <a:latin typeface="Cambria Math" panose="02040503050406030204" pitchFamily="18" charset="0"/>
                          <a:ea typeface="Cambria Math" panose="02040503050406030204" pitchFamily="18" charset="0"/>
                        </a:rPr>
                        <m:t>+ </m:t>
                      </m:r>
                      <m:r>
                        <a:rPr lang="pl-PL" b="0" i="1" smtClean="0">
                          <a:latin typeface="Cambria Math" panose="02040503050406030204" pitchFamily="18" charset="0"/>
                          <a:ea typeface="Cambria Math" panose="02040503050406030204" pitchFamily="18" charset="0"/>
                        </a:rPr>
                        <m:t>𝜑</m:t>
                      </m:r>
                      <m:r>
                        <a:rPr lang="pl-PL" b="0" i="1" smtClean="0">
                          <a:latin typeface="Cambria Math" panose="02040503050406030204" pitchFamily="18" charset="0"/>
                          <a:ea typeface="Cambria Math" panose="02040503050406030204" pitchFamily="18" charset="0"/>
                        </a:rPr>
                        <m:t>)</m:t>
                      </m:r>
                    </m:oMath>
                  </m:oMathPara>
                </a14:m>
                <a:endParaRPr lang="pl-PL" dirty="0"/>
              </a:p>
              <a:p>
                <a:pPr marL="0" indent="0">
                  <a:buNone/>
                </a:pPr>
                <a:endParaRPr lang="pl-PL" dirty="0"/>
              </a:p>
              <a:p>
                <a:pPr marL="0" indent="0">
                  <a:buNone/>
                </a:pPr>
                <a:r>
                  <a:rPr lang="pl-PL" dirty="0"/>
                  <a:t>Każdy bardziej złożony dźwięk można rozłożyć na zestaw sinusoid.</a:t>
                </a:r>
              </a:p>
            </p:txBody>
          </p:sp>
        </mc:Choice>
        <mc:Fallback>
          <p:sp>
            <p:nvSpPr>
              <p:cNvPr id="3" name="Symbol zastępczy zawartości 2">
                <a:extLst>
                  <a:ext uri="{FF2B5EF4-FFF2-40B4-BE49-F238E27FC236}">
                    <a16:creationId xmlns:a16="http://schemas.microsoft.com/office/drawing/2014/main" id="{A4039485-BE7F-6F8A-27BF-A09B6F938DB1}"/>
                  </a:ext>
                </a:extLst>
              </p:cNvPr>
              <p:cNvSpPr>
                <a:spLocks noGrp="1" noRot="1" noChangeAspect="1" noMove="1" noResize="1" noEditPoints="1" noAdjustHandles="1" noChangeArrowheads="1" noChangeShapeType="1" noTextEdit="1"/>
              </p:cNvSpPr>
              <p:nvPr>
                <p:ph idx="1"/>
              </p:nvPr>
            </p:nvSpPr>
            <p:spPr>
              <a:xfrm>
                <a:off x="838200" y="1825625"/>
                <a:ext cx="4881880" cy="4351338"/>
              </a:xfrm>
              <a:blipFill>
                <a:blip r:embed="rId2"/>
                <a:stretch>
                  <a:fillRect l="-2625" r="-2625"/>
                </a:stretch>
              </a:blipFill>
            </p:spPr>
            <p:txBody>
              <a:bodyPr/>
              <a:lstStyle/>
              <a:p>
                <a:r>
                  <a:rPr lang="pl-PL">
                    <a:noFill/>
                  </a:rPr>
                  <a:t> </a:t>
                </a:r>
              </a:p>
            </p:txBody>
          </p:sp>
        </mc:Fallback>
      </mc:AlternateContent>
      <p:pic>
        <p:nvPicPr>
          <p:cNvPr id="5" name="Obraz 4">
            <a:extLst>
              <a:ext uri="{FF2B5EF4-FFF2-40B4-BE49-F238E27FC236}">
                <a16:creationId xmlns:a16="http://schemas.microsoft.com/office/drawing/2014/main" id="{30ECEB90-BDF3-AA18-26EB-B7BD4B7E8D52}"/>
              </a:ext>
            </a:extLst>
          </p:cNvPr>
          <p:cNvPicPr>
            <a:picLocks noChangeAspect="1"/>
          </p:cNvPicPr>
          <p:nvPr/>
        </p:nvPicPr>
        <p:blipFill>
          <a:blip r:embed="rId3"/>
          <a:stretch>
            <a:fillRect/>
          </a:stretch>
        </p:blipFill>
        <p:spPr>
          <a:xfrm>
            <a:off x="5720080" y="1690688"/>
            <a:ext cx="6370786" cy="3470592"/>
          </a:xfrm>
          <a:prstGeom prst="rect">
            <a:avLst/>
          </a:prstGeom>
        </p:spPr>
      </p:pic>
    </p:spTree>
    <p:extLst>
      <p:ext uri="{BB962C8B-B14F-4D97-AF65-F5344CB8AC3E}">
        <p14:creationId xmlns:p14="http://schemas.microsoft.com/office/powerpoint/2010/main" val="3547420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09FE7D0-F63A-A3E1-10EE-6766A1CC1A60}"/>
              </a:ext>
            </a:extLst>
          </p:cNvPr>
          <p:cNvSpPr>
            <a:spLocks noGrp="1"/>
          </p:cNvSpPr>
          <p:nvPr>
            <p:ph type="title"/>
          </p:nvPr>
        </p:nvSpPr>
        <p:spPr/>
        <p:txBody>
          <a:bodyPr/>
          <a:lstStyle/>
          <a:p>
            <a:r>
              <a:rPr lang="pl-PL" dirty="0"/>
              <a:t>Głośność sygnału</a:t>
            </a:r>
          </a:p>
        </p:txBody>
      </p:sp>
      <p:sp>
        <p:nvSpPr>
          <p:cNvPr id="3" name="Symbol zastępczy zawartości 2">
            <a:extLst>
              <a:ext uri="{FF2B5EF4-FFF2-40B4-BE49-F238E27FC236}">
                <a16:creationId xmlns:a16="http://schemas.microsoft.com/office/drawing/2014/main" id="{D3738803-EEC4-6FE1-FAF5-5071AF8B2589}"/>
              </a:ext>
            </a:extLst>
          </p:cNvPr>
          <p:cNvSpPr>
            <a:spLocks noGrp="1"/>
          </p:cNvSpPr>
          <p:nvPr>
            <p:ph idx="1"/>
          </p:nvPr>
        </p:nvSpPr>
        <p:spPr/>
        <p:txBody>
          <a:bodyPr/>
          <a:lstStyle/>
          <a:p>
            <a:r>
              <a:rPr lang="pl-PL" dirty="0"/>
              <a:t>Głośność zależy od amplitudy fali, im większa tym głośniejszy dźwięk</a:t>
            </a:r>
          </a:p>
          <a:p>
            <a:r>
              <a:rPr lang="pl-PL" dirty="0"/>
              <a:t>Podawana w decybelach (</a:t>
            </a:r>
            <a:r>
              <a:rPr lang="pl-PL" dirty="0" err="1"/>
              <a:t>dB</a:t>
            </a:r>
            <a:r>
              <a:rPr lang="pl-PL" dirty="0"/>
              <a:t>)</a:t>
            </a:r>
          </a:p>
          <a:p>
            <a:r>
              <a:rPr lang="pl-PL" dirty="0"/>
              <a:t>Percepcja głośności u człowieka jest logarytmiczna</a:t>
            </a:r>
          </a:p>
          <a:p>
            <a:r>
              <a:rPr lang="pl-PL" dirty="0" err="1"/>
              <a:t>Dwzrost</a:t>
            </a:r>
            <a:r>
              <a:rPr lang="pl-PL" dirty="0"/>
              <a:t> głośności odpowiada wzrostowi o 3 </a:t>
            </a:r>
            <a:r>
              <a:rPr lang="pl-PL" dirty="0" err="1"/>
              <a:t>dB</a:t>
            </a:r>
            <a:endParaRPr lang="pl-PL" dirty="0"/>
          </a:p>
        </p:txBody>
      </p:sp>
    </p:spTree>
    <p:extLst>
      <p:ext uri="{BB962C8B-B14F-4D97-AF65-F5344CB8AC3E}">
        <p14:creationId xmlns:p14="http://schemas.microsoft.com/office/powerpoint/2010/main" val="394944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918B835-7FDC-B968-2D99-E966F198A328}"/>
              </a:ext>
            </a:extLst>
          </p:cNvPr>
          <p:cNvSpPr>
            <a:spLocks noGrp="1"/>
          </p:cNvSpPr>
          <p:nvPr>
            <p:ph type="title"/>
          </p:nvPr>
        </p:nvSpPr>
        <p:spPr/>
        <p:txBody>
          <a:bodyPr/>
          <a:lstStyle/>
          <a:p>
            <a:r>
              <a:rPr lang="pl-PL" dirty="0"/>
              <a:t>Ton podstawowy</a:t>
            </a:r>
          </a:p>
        </p:txBody>
      </p:sp>
      <p:sp>
        <p:nvSpPr>
          <p:cNvPr id="3" name="Symbol zastępczy zawartości 2">
            <a:extLst>
              <a:ext uri="{FF2B5EF4-FFF2-40B4-BE49-F238E27FC236}">
                <a16:creationId xmlns:a16="http://schemas.microsoft.com/office/drawing/2014/main" id="{FD83146F-9019-A8D4-5720-6E1438284E62}"/>
              </a:ext>
            </a:extLst>
          </p:cNvPr>
          <p:cNvSpPr>
            <a:spLocks noGrp="1"/>
          </p:cNvSpPr>
          <p:nvPr>
            <p:ph idx="1"/>
          </p:nvPr>
        </p:nvSpPr>
        <p:spPr/>
        <p:txBody>
          <a:bodyPr/>
          <a:lstStyle/>
          <a:p>
            <a:r>
              <a:rPr lang="pl-PL" dirty="0"/>
              <a:t>Jest to najniższa częstotliwość dźwięku</a:t>
            </a:r>
          </a:p>
          <a:p>
            <a:r>
              <a:rPr lang="pl-PL" dirty="0"/>
              <a:t>Określa wysokość tonu</a:t>
            </a:r>
          </a:p>
          <a:p>
            <a:r>
              <a:rPr lang="pl-PL" dirty="0"/>
              <a:t>Używany jest do strojenia instrumentów czy analizy mowy</a:t>
            </a:r>
          </a:p>
          <a:p>
            <a:endParaRPr lang="pl-PL" dirty="0"/>
          </a:p>
          <a:p>
            <a:pPr marL="0" indent="0">
              <a:buNone/>
            </a:pPr>
            <a:r>
              <a:rPr lang="pl-PL" dirty="0"/>
              <a:t>Przykład:</a:t>
            </a:r>
          </a:p>
          <a:p>
            <a:r>
              <a:rPr lang="pl-PL" dirty="0"/>
              <a:t>E2 = 82.41 </a:t>
            </a:r>
            <a:r>
              <a:rPr lang="pl-PL" dirty="0" err="1"/>
              <a:t>Hz</a:t>
            </a:r>
            <a:endParaRPr lang="pl-PL" dirty="0"/>
          </a:p>
          <a:p>
            <a:r>
              <a:rPr lang="pl-PL" dirty="0"/>
              <a:t>A4 = 440 </a:t>
            </a:r>
            <a:r>
              <a:rPr lang="pl-PL" dirty="0" err="1"/>
              <a:t>Hz</a:t>
            </a:r>
            <a:endParaRPr lang="pl-PL" dirty="0"/>
          </a:p>
        </p:txBody>
      </p:sp>
    </p:spTree>
    <p:extLst>
      <p:ext uri="{BB962C8B-B14F-4D97-AF65-F5344CB8AC3E}">
        <p14:creationId xmlns:p14="http://schemas.microsoft.com/office/powerpoint/2010/main" val="2693017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413F43-221E-63E6-483E-88B8488690C4}"/>
              </a:ext>
            </a:extLst>
          </p:cNvPr>
          <p:cNvSpPr>
            <a:spLocks noGrp="1"/>
          </p:cNvSpPr>
          <p:nvPr>
            <p:ph type="title"/>
          </p:nvPr>
        </p:nvSpPr>
        <p:spPr/>
        <p:txBody>
          <a:bodyPr/>
          <a:lstStyle/>
          <a:p>
            <a:r>
              <a:rPr lang="pl-PL" dirty="0"/>
              <a:t>Wysokość tonu</a:t>
            </a:r>
          </a:p>
        </p:txBody>
      </p:sp>
      <p:sp>
        <p:nvSpPr>
          <p:cNvPr id="3" name="Symbol zastępczy zawartości 2">
            <a:extLst>
              <a:ext uri="{FF2B5EF4-FFF2-40B4-BE49-F238E27FC236}">
                <a16:creationId xmlns:a16="http://schemas.microsoft.com/office/drawing/2014/main" id="{E6B4C50A-CB76-4B62-BB59-32425D005A8F}"/>
              </a:ext>
            </a:extLst>
          </p:cNvPr>
          <p:cNvSpPr>
            <a:spLocks noGrp="1"/>
          </p:cNvSpPr>
          <p:nvPr>
            <p:ph idx="1"/>
          </p:nvPr>
        </p:nvSpPr>
        <p:spPr>
          <a:xfrm>
            <a:off x="838200" y="1825625"/>
            <a:ext cx="5379720" cy="4351338"/>
          </a:xfrm>
        </p:spPr>
        <p:txBody>
          <a:bodyPr/>
          <a:lstStyle/>
          <a:p>
            <a:pPr marL="0" indent="0">
              <a:buNone/>
            </a:pPr>
            <a:r>
              <a:rPr lang="pl-PL" dirty="0"/>
              <a:t>Częstotliwość określa wysokość tonu</a:t>
            </a:r>
          </a:p>
          <a:p>
            <a:pPr marL="0" indent="0">
              <a:buNone/>
            </a:pPr>
            <a:r>
              <a:rPr lang="pl-PL" dirty="0"/>
              <a:t>Zakres słyszenia człowieka </a:t>
            </a:r>
            <a:br>
              <a:rPr lang="pl-PL" dirty="0"/>
            </a:br>
            <a:r>
              <a:rPr lang="pl-PL" dirty="0"/>
              <a:t>20 </a:t>
            </a:r>
            <a:r>
              <a:rPr lang="pl-PL" dirty="0" err="1"/>
              <a:t>Hz</a:t>
            </a:r>
            <a:r>
              <a:rPr lang="pl-PL" dirty="0"/>
              <a:t> – 20 kHz</a:t>
            </a:r>
          </a:p>
          <a:p>
            <a:pPr marL="0" indent="0">
              <a:buNone/>
            </a:pPr>
            <a:endParaRPr lang="pl-PL" dirty="0"/>
          </a:p>
          <a:p>
            <a:pPr marL="0" indent="0">
              <a:buNone/>
            </a:pPr>
            <a:r>
              <a:rPr lang="pl-PL" dirty="0"/>
              <a:t>Przykład:</a:t>
            </a:r>
          </a:p>
          <a:p>
            <a:r>
              <a:rPr lang="pl-PL" dirty="0"/>
              <a:t>Bas: niskie częstotliwości</a:t>
            </a:r>
          </a:p>
          <a:p>
            <a:r>
              <a:rPr lang="pl-PL" dirty="0"/>
              <a:t>Gwizdek: wysokie częstotliwości</a:t>
            </a:r>
          </a:p>
        </p:txBody>
      </p:sp>
      <p:pic>
        <p:nvPicPr>
          <p:cNvPr id="7" name="Obraz 6">
            <a:extLst>
              <a:ext uri="{FF2B5EF4-FFF2-40B4-BE49-F238E27FC236}">
                <a16:creationId xmlns:a16="http://schemas.microsoft.com/office/drawing/2014/main" id="{A4D34A1F-2D93-D76C-5E4D-16B4D94E5930}"/>
              </a:ext>
            </a:extLst>
          </p:cNvPr>
          <p:cNvPicPr>
            <a:picLocks noChangeAspect="1"/>
          </p:cNvPicPr>
          <p:nvPr/>
        </p:nvPicPr>
        <p:blipFill>
          <a:blip r:embed="rId2"/>
          <a:stretch>
            <a:fillRect/>
          </a:stretch>
        </p:blipFill>
        <p:spPr>
          <a:xfrm>
            <a:off x="6438097" y="365125"/>
            <a:ext cx="5753903" cy="5458587"/>
          </a:xfrm>
          <a:prstGeom prst="rect">
            <a:avLst/>
          </a:prstGeom>
        </p:spPr>
      </p:pic>
    </p:spTree>
    <p:extLst>
      <p:ext uri="{BB962C8B-B14F-4D97-AF65-F5344CB8AC3E}">
        <p14:creationId xmlns:p14="http://schemas.microsoft.com/office/powerpoint/2010/main" val="1654823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359577-F9E8-02F3-E5BD-1B37FBBC96FC}"/>
              </a:ext>
            </a:extLst>
          </p:cNvPr>
          <p:cNvSpPr>
            <a:spLocks noGrp="1"/>
          </p:cNvSpPr>
          <p:nvPr>
            <p:ph type="title"/>
          </p:nvPr>
        </p:nvSpPr>
        <p:spPr/>
        <p:txBody>
          <a:bodyPr/>
          <a:lstStyle/>
          <a:p>
            <a:r>
              <a:rPr lang="pl-PL" dirty="0"/>
              <a:t>Harmoniczne</a:t>
            </a:r>
          </a:p>
        </p:txBody>
      </p:sp>
      <mc:AlternateContent xmlns:mc="http://schemas.openxmlformats.org/markup-compatibility/2006">
        <mc:Choice xmlns:a14="http://schemas.microsoft.com/office/drawing/2010/main" Requires="a14">
          <p:sp>
            <p:nvSpPr>
              <p:cNvPr id="3" name="Symbol zastępczy zawartości 2">
                <a:extLst>
                  <a:ext uri="{FF2B5EF4-FFF2-40B4-BE49-F238E27FC236}">
                    <a16:creationId xmlns:a16="http://schemas.microsoft.com/office/drawing/2014/main" id="{9A3F753B-E877-652B-D3A5-FEE03CD14B28}"/>
                  </a:ext>
                </a:extLst>
              </p:cNvPr>
              <p:cNvSpPr>
                <a:spLocks noGrp="1"/>
              </p:cNvSpPr>
              <p:nvPr>
                <p:ph idx="1"/>
              </p:nvPr>
            </p:nvSpPr>
            <p:spPr>
              <a:xfrm>
                <a:off x="838201" y="1825625"/>
                <a:ext cx="5257800" cy="4351338"/>
              </a:xfrm>
            </p:spPr>
            <p:txBody>
              <a:bodyPr/>
              <a:lstStyle/>
              <a:p>
                <a:pPr marL="0" indent="0">
                  <a:buNone/>
                </a:pPr>
                <a:r>
                  <a:rPr lang="pl-PL" dirty="0"/>
                  <a:t>Są to wielokrotności tonu podstawowego, odpowiadają za charakter brzmienia.</a:t>
                </a:r>
              </a:p>
              <a:p>
                <a:pPr marL="0" indent="0">
                  <a:buNone/>
                </a:pPr>
                <a:endParaRPr lang="pl-PL" dirty="0"/>
              </a:p>
              <a:p>
                <a:pPr marL="0" indent="0">
                  <a:buNone/>
                </a:pPr>
                <a14:m>
                  <m:oMathPara xmlns:m="http://schemas.openxmlformats.org/officeDocument/2006/math">
                    <m:oMathParaPr>
                      <m:jc m:val="centerGroup"/>
                    </m:oMathParaPr>
                    <m:oMath xmlns:m="http://schemas.openxmlformats.org/officeDocument/2006/math">
                      <m:r>
                        <a:rPr lang="pl-PL" b="0" i="1" smtClean="0">
                          <a:latin typeface="Cambria Math" panose="02040503050406030204" pitchFamily="18" charset="0"/>
                        </a:rPr>
                        <m:t>𝑓</m:t>
                      </m:r>
                      <m:r>
                        <a:rPr lang="pl-PL" b="0" i="1" baseline="-25000" smtClean="0">
                          <a:latin typeface="Cambria Math" panose="02040503050406030204" pitchFamily="18" charset="0"/>
                        </a:rPr>
                        <m:t>𝑛</m:t>
                      </m:r>
                      <m:r>
                        <a:rPr lang="pl-PL" b="0" i="1" smtClean="0">
                          <a:latin typeface="Cambria Math" panose="02040503050406030204" pitchFamily="18" charset="0"/>
                        </a:rPr>
                        <m:t>=</m:t>
                      </m:r>
                      <m:r>
                        <a:rPr lang="pl-PL" b="0" i="1" smtClean="0">
                          <a:latin typeface="Cambria Math" panose="02040503050406030204" pitchFamily="18" charset="0"/>
                        </a:rPr>
                        <m:t>𝑛𝑓</m:t>
                      </m:r>
                      <m:r>
                        <a:rPr lang="pl-PL" b="0" i="1" baseline="-25000" smtClean="0">
                          <a:latin typeface="Cambria Math" panose="02040503050406030204" pitchFamily="18" charset="0"/>
                        </a:rPr>
                        <m:t>1</m:t>
                      </m:r>
                    </m:oMath>
                  </m:oMathPara>
                </a14:m>
                <a:endParaRPr lang="pl-PL" baseline="-25000" dirty="0"/>
              </a:p>
            </p:txBody>
          </p:sp>
        </mc:Choice>
        <mc:Fallback>
          <p:sp>
            <p:nvSpPr>
              <p:cNvPr id="3" name="Symbol zastępczy zawartości 2">
                <a:extLst>
                  <a:ext uri="{FF2B5EF4-FFF2-40B4-BE49-F238E27FC236}">
                    <a16:creationId xmlns:a16="http://schemas.microsoft.com/office/drawing/2014/main" id="{9A3F753B-E877-652B-D3A5-FEE03CD14B28}"/>
                  </a:ext>
                </a:extLst>
              </p:cNvPr>
              <p:cNvSpPr>
                <a:spLocks noGrp="1" noRot="1" noChangeAspect="1" noMove="1" noResize="1" noEditPoints="1" noAdjustHandles="1" noChangeArrowheads="1" noChangeShapeType="1" noTextEdit="1"/>
              </p:cNvSpPr>
              <p:nvPr>
                <p:ph idx="1"/>
              </p:nvPr>
            </p:nvSpPr>
            <p:spPr>
              <a:xfrm>
                <a:off x="838201" y="1825625"/>
                <a:ext cx="5257800" cy="4351338"/>
              </a:xfrm>
              <a:blipFill>
                <a:blip r:embed="rId2"/>
                <a:stretch>
                  <a:fillRect l="-2436" t="-2381" r="-2320"/>
                </a:stretch>
              </a:blipFill>
            </p:spPr>
            <p:txBody>
              <a:bodyPr/>
              <a:lstStyle/>
              <a:p>
                <a:r>
                  <a:rPr lang="pl-PL">
                    <a:noFill/>
                  </a:rPr>
                  <a:t> </a:t>
                </a:r>
              </a:p>
            </p:txBody>
          </p:sp>
        </mc:Fallback>
      </mc:AlternateContent>
      <p:pic>
        <p:nvPicPr>
          <p:cNvPr id="2050" name="Picture 2" descr="Timbre">
            <a:extLst>
              <a:ext uri="{FF2B5EF4-FFF2-40B4-BE49-F238E27FC236}">
                <a16:creationId xmlns:a16="http://schemas.microsoft.com/office/drawing/2014/main" id="{2060DA62-AE5F-6861-865B-A7F913A2A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2141" y="1690688"/>
            <a:ext cx="5448300"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35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9D5AEFB-F21B-8B6E-3A38-E2E9AAF90627}"/>
              </a:ext>
            </a:extLst>
          </p:cNvPr>
          <p:cNvSpPr>
            <a:spLocks noGrp="1"/>
          </p:cNvSpPr>
          <p:nvPr>
            <p:ph type="title"/>
          </p:nvPr>
        </p:nvSpPr>
        <p:spPr/>
        <p:txBody>
          <a:bodyPr/>
          <a:lstStyle/>
          <a:p>
            <a:r>
              <a:rPr lang="pl-PL" dirty="0"/>
              <a:t>Harmoniczne</a:t>
            </a:r>
          </a:p>
        </p:txBody>
      </p:sp>
      <p:pic>
        <p:nvPicPr>
          <p:cNvPr id="3074" name="Picture 2" descr="Colors from vibrations | Causes of Color">
            <a:extLst>
              <a:ext uri="{FF2B5EF4-FFF2-40B4-BE49-F238E27FC236}">
                <a16:creationId xmlns:a16="http://schemas.microsoft.com/office/drawing/2014/main" id="{21DD698F-21DA-020A-D4D2-799669F5C4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1231" y="94265"/>
            <a:ext cx="6191250" cy="61912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requency Range: Mastering the Spectrum for Superior Beats">
            <a:extLst>
              <a:ext uri="{FF2B5EF4-FFF2-40B4-BE49-F238E27FC236}">
                <a16:creationId xmlns:a16="http://schemas.microsoft.com/office/drawing/2014/main" id="{2A4BCE8B-FF57-9F16-1EAA-D3DEFC9071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318" r="17041"/>
          <a:stretch>
            <a:fillRect/>
          </a:stretch>
        </p:blipFill>
        <p:spPr bwMode="auto">
          <a:xfrm>
            <a:off x="504497" y="1367190"/>
            <a:ext cx="4067503" cy="4991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45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D6A0D1E-F793-4BF5-69AC-EF22E0112294}"/>
              </a:ext>
            </a:extLst>
          </p:cNvPr>
          <p:cNvSpPr>
            <a:spLocks noGrp="1"/>
          </p:cNvSpPr>
          <p:nvPr>
            <p:ph type="title"/>
          </p:nvPr>
        </p:nvSpPr>
        <p:spPr/>
        <p:txBody>
          <a:bodyPr/>
          <a:lstStyle/>
          <a:p>
            <a:r>
              <a:rPr lang="pl-PL" dirty="0"/>
              <a:t>Wysokość dźwięku</a:t>
            </a:r>
          </a:p>
        </p:txBody>
      </p:sp>
      <p:sp>
        <p:nvSpPr>
          <p:cNvPr id="3" name="Symbol zastępczy zawartości 2">
            <a:extLst>
              <a:ext uri="{FF2B5EF4-FFF2-40B4-BE49-F238E27FC236}">
                <a16:creationId xmlns:a16="http://schemas.microsoft.com/office/drawing/2014/main" id="{51F2B513-6464-E128-4865-3FB32E937B05}"/>
              </a:ext>
            </a:extLst>
          </p:cNvPr>
          <p:cNvSpPr>
            <a:spLocks noGrp="1"/>
          </p:cNvSpPr>
          <p:nvPr>
            <p:ph idx="1"/>
          </p:nvPr>
        </p:nvSpPr>
        <p:spPr/>
        <p:txBody>
          <a:bodyPr/>
          <a:lstStyle/>
          <a:p>
            <a:r>
              <a:rPr lang="pl-PL" dirty="0"/>
              <a:t>Jest to zagadnienie </a:t>
            </a:r>
            <a:r>
              <a:rPr lang="pl-PL" dirty="0" err="1"/>
              <a:t>psychoakustyczne</a:t>
            </a:r>
            <a:r>
              <a:rPr lang="pl-PL" dirty="0"/>
              <a:t>.  </a:t>
            </a:r>
          </a:p>
          <a:p>
            <a:r>
              <a:rPr lang="pl-PL" dirty="0"/>
              <a:t>Próba zamodelowania sposobu słyszenia dźwięku przez człowieka</a:t>
            </a:r>
          </a:p>
          <a:p>
            <a:r>
              <a:rPr lang="pl-PL" dirty="0"/>
              <a:t>Odnosi się do relacji pomiędzy harmonicznymi</a:t>
            </a:r>
          </a:p>
          <a:p>
            <a:pPr marL="0" indent="0">
              <a:buNone/>
            </a:pPr>
            <a:endParaRPr lang="pl-PL" dirty="0"/>
          </a:p>
          <a:p>
            <a:pPr marL="0" indent="0">
              <a:buNone/>
            </a:pPr>
            <a:r>
              <a:rPr lang="pl-PL" dirty="0"/>
              <a:t>Przykład prostego wzoru na wysokość dźwięku:</a:t>
            </a:r>
          </a:p>
        </p:txBody>
      </p:sp>
      <p:pic>
        <p:nvPicPr>
          <p:cNvPr id="5" name="Obraz 4">
            <a:extLst>
              <a:ext uri="{FF2B5EF4-FFF2-40B4-BE49-F238E27FC236}">
                <a16:creationId xmlns:a16="http://schemas.microsoft.com/office/drawing/2014/main" id="{F2351366-7FA2-8182-9DA3-2B6263B9C936}"/>
              </a:ext>
            </a:extLst>
          </p:cNvPr>
          <p:cNvPicPr>
            <a:picLocks noChangeAspect="1"/>
          </p:cNvPicPr>
          <p:nvPr/>
        </p:nvPicPr>
        <p:blipFill>
          <a:blip r:embed="rId2"/>
          <a:stretch>
            <a:fillRect/>
          </a:stretch>
        </p:blipFill>
        <p:spPr>
          <a:xfrm>
            <a:off x="2342626" y="4479545"/>
            <a:ext cx="7506748" cy="885949"/>
          </a:xfrm>
          <a:prstGeom prst="rect">
            <a:avLst/>
          </a:prstGeom>
        </p:spPr>
      </p:pic>
    </p:spTree>
    <p:extLst>
      <p:ext uri="{BB962C8B-B14F-4D97-AF65-F5344CB8AC3E}">
        <p14:creationId xmlns:p14="http://schemas.microsoft.com/office/powerpoint/2010/main" val="2481100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B54937D-F995-8AC0-72CE-23E8CEC56E2C}"/>
              </a:ext>
            </a:extLst>
          </p:cNvPr>
          <p:cNvSpPr>
            <a:spLocks noGrp="1"/>
          </p:cNvSpPr>
          <p:nvPr>
            <p:ph type="title"/>
          </p:nvPr>
        </p:nvSpPr>
        <p:spPr/>
        <p:txBody>
          <a:bodyPr/>
          <a:lstStyle/>
          <a:p>
            <a:r>
              <a:rPr lang="pl-PL" dirty="0"/>
              <a:t>Widmo dźwięku</a:t>
            </a:r>
          </a:p>
        </p:txBody>
      </p:sp>
      <p:sp>
        <p:nvSpPr>
          <p:cNvPr id="3" name="Symbol zastępczy zawartości 2">
            <a:extLst>
              <a:ext uri="{FF2B5EF4-FFF2-40B4-BE49-F238E27FC236}">
                <a16:creationId xmlns:a16="http://schemas.microsoft.com/office/drawing/2014/main" id="{C4CAC127-D0DC-F5BA-B0D1-4079C12054D8}"/>
              </a:ext>
            </a:extLst>
          </p:cNvPr>
          <p:cNvSpPr>
            <a:spLocks noGrp="1"/>
          </p:cNvSpPr>
          <p:nvPr>
            <p:ph idx="1"/>
          </p:nvPr>
        </p:nvSpPr>
        <p:spPr>
          <a:xfrm>
            <a:off x="838200" y="1825625"/>
            <a:ext cx="4648200" cy="4351338"/>
          </a:xfrm>
        </p:spPr>
        <p:txBody>
          <a:bodyPr/>
          <a:lstStyle/>
          <a:p>
            <a:pPr marL="0" indent="0">
              <a:buNone/>
            </a:pPr>
            <a:r>
              <a:rPr lang="pl-PL" dirty="0"/>
              <a:t>Widmo dźwięku pokazuje jakie częstotliwości występują w sygnale oraz z jaką amplitudą. </a:t>
            </a:r>
          </a:p>
        </p:txBody>
      </p:sp>
      <p:pic>
        <p:nvPicPr>
          <p:cNvPr id="5" name="Obraz 4">
            <a:extLst>
              <a:ext uri="{FF2B5EF4-FFF2-40B4-BE49-F238E27FC236}">
                <a16:creationId xmlns:a16="http://schemas.microsoft.com/office/drawing/2014/main" id="{DA3AAD58-E226-C989-4DD2-92498BF1FF92}"/>
              </a:ext>
            </a:extLst>
          </p:cNvPr>
          <p:cNvPicPr>
            <a:picLocks noChangeAspect="1"/>
          </p:cNvPicPr>
          <p:nvPr/>
        </p:nvPicPr>
        <p:blipFill>
          <a:blip r:embed="rId2">
            <a:extLst>
              <a:ext uri="{28A0092B-C50C-407E-A947-70E740481C1C}">
                <a14:useLocalDpi xmlns:a14="http://schemas.microsoft.com/office/drawing/2010/main" val="0"/>
              </a:ext>
            </a:extLst>
          </a:blip>
          <a:srcRect l="13301" r="24467"/>
          <a:stretch>
            <a:fillRect/>
          </a:stretch>
        </p:blipFill>
        <p:spPr>
          <a:xfrm>
            <a:off x="5781039" y="581024"/>
            <a:ext cx="6301815" cy="5695951"/>
          </a:xfrm>
          <a:prstGeom prst="rect">
            <a:avLst/>
          </a:prstGeom>
        </p:spPr>
      </p:pic>
    </p:spTree>
    <p:extLst>
      <p:ext uri="{BB962C8B-B14F-4D97-AF65-F5344CB8AC3E}">
        <p14:creationId xmlns:p14="http://schemas.microsoft.com/office/powerpoint/2010/main" val="3839388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4F540E6-4873-D858-262C-D46F92737E8C}"/>
              </a:ext>
            </a:extLst>
          </p:cNvPr>
          <p:cNvSpPr>
            <a:spLocks noGrp="1"/>
          </p:cNvSpPr>
          <p:nvPr>
            <p:ph type="title"/>
          </p:nvPr>
        </p:nvSpPr>
        <p:spPr/>
        <p:txBody>
          <a:bodyPr/>
          <a:lstStyle/>
          <a:p>
            <a:r>
              <a:rPr lang="pl-PL" dirty="0"/>
              <a:t>Dziedzina czasu i częstotliwości</a:t>
            </a:r>
          </a:p>
        </p:txBody>
      </p:sp>
      <p:sp>
        <p:nvSpPr>
          <p:cNvPr id="3" name="Symbol zastępczy zawartości 2">
            <a:extLst>
              <a:ext uri="{FF2B5EF4-FFF2-40B4-BE49-F238E27FC236}">
                <a16:creationId xmlns:a16="http://schemas.microsoft.com/office/drawing/2014/main" id="{527BC19C-BCF3-E1E5-FEC6-58D3A33D48C8}"/>
              </a:ext>
            </a:extLst>
          </p:cNvPr>
          <p:cNvSpPr>
            <a:spLocks noGrp="1"/>
          </p:cNvSpPr>
          <p:nvPr>
            <p:ph idx="1"/>
          </p:nvPr>
        </p:nvSpPr>
        <p:spPr>
          <a:xfrm>
            <a:off x="6248400" y="1978025"/>
            <a:ext cx="5257800" cy="4351338"/>
          </a:xfrm>
        </p:spPr>
        <p:txBody>
          <a:bodyPr/>
          <a:lstStyle/>
          <a:p>
            <a:pPr marL="0" indent="0">
              <a:buNone/>
            </a:pPr>
            <a:r>
              <a:rPr lang="pl-PL" dirty="0"/>
              <a:t>Dziedzina częstotliwości</a:t>
            </a:r>
          </a:p>
          <a:p>
            <a:r>
              <a:rPr lang="pl-PL" dirty="0"/>
              <a:t>Skład częstotliwościowy </a:t>
            </a:r>
          </a:p>
          <a:p>
            <a:r>
              <a:rPr lang="pl-PL" dirty="0"/>
              <a:t>Widmo sygnału</a:t>
            </a:r>
          </a:p>
        </p:txBody>
      </p:sp>
      <p:sp>
        <p:nvSpPr>
          <p:cNvPr id="4" name="Symbol zastępczy zawartości 2">
            <a:extLst>
              <a:ext uri="{FF2B5EF4-FFF2-40B4-BE49-F238E27FC236}">
                <a16:creationId xmlns:a16="http://schemas.microsoft.com/office/drawing/2014/main" id="{C1620CE9-5957-8917-F958-ED7014E8BB1F}"/>
              </a:ext>
            </a:extLst>
          </p:cNvPr>
          <p:cNvSpPr txBox="1">
            <a:spLocks/>
          </p:cNvSpPr>
          <p:nvPr/>
        </p:nvSpPr>
        <p:spPr>
          <a:xfrm>
            <a:off x="990600" y="1978025"/>
            <a:ext cx="5257800" cy="4351338"/>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dirty="0"/>
              <a:t>Dziedzina czasu</a:t>
            </a:r>
          </a:p>
          <a:p>
            <a:r>
              <a:rPr lang="pl-PL" dirty="0"/>
              <a:t>Przebieg fali</a:t>
            </a:r>
          </a:p>
          <a:p>
            <a:r>
              <a:rPr lang="pl-PL" dirty="0"/>
              <a:t>Zmiany amplitudy w czasie</a:t>
            </a:r>
          </a:p>
        </p:txBody>
      </p:sp>
    </p:spTree>
    <p:extLst>
      <p:ext uri="{BB962C8B-B14F-4D97-AF65-F5344CB8AC3E}">
        <p14:creationId xmlns:p14="http://schemas.microsoft.com/office/powerpoint/2010/main" val="4132356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4B06A09-64C3-EF11-26F7-7C521E76B9FC}"/>
              </a:ext>
            </a:extLst>
          </p:cNvPr>
          <p:cNvSpPr>
            <a:spLocks noGrp="1"/>
          </p:cNvSpPr>
          <p:nvPr>
            <p:ph type="title"/>
          </p:nvPr>
        </p:nvSpPr>
        <p:spPr>
          <a:xfrm>
            <a:off x="838200" y="365125"/>
            <a:ext cx="11069320" cy="1325563"/>
          </a:xfrm>
        </p:spPr>
        <p:txBody>
          <a:bodyPr/>
          <a:lstStyle/>
          <a:p>
            <a:r>
              <a:rPr lang="pl-PL" dirty="0"/>
              <a:t>Do czego stosujemy analizę częstotliwościową?</a:t>
            </a:r>
          </a:p>
        </p:txBody>
      </p:sp>
      <p:sp>
        <p:nvSpPr>
          <p:cNvPr id="3" name="Symbol zastępczy zawartości 2">
            <a:extLst>
              <a:ext uri="{FF2B5EF4-FFF2-40B4-BE49-F238E27FC236}">
                <a16:creationId xmlns:a16="http://schemas.microsoft.com/office/drawing/2014/main" id="{A3397173-378E-28DC-D5D6-C3A86C978B9E}"/>
              </a:ext>
            </a:extLst>
          </p:cNvPr>
          <p:cNvSpPr>
            <a:spLocks noGrp="1"/>
          </p:cNvSpPr>
          <p:nvPr>
            <p:ph idx="1"/>
          </p:nvPr>
        </p:nvSpPr>
        <p:spPr/>
        <p:txBody>
          <a:bodyPr/>
          <a:lstStyle/>
          <a:p>
            <a:r>
              <a:rPr lang="pl-PL" dirty="0"/>
              <a:t>Rozpoznawanie mowy</a:t>
            </a:r>
          </a:p>
          <a:p>
            <a:r>
              <a:rPr lang="pl-PL" dirty="0"/>
              <a:t>Kompresja MP3</a:t>
            </a:r>
          </a:p>
          <a:p>
            <a:r>
              <a:rPr lang="pl-PL" dirty="0"/>
              <a:t>Redukcja szumu</a:t>
            </a:r>
          </a:p>
          <a:p>
            <a:r>
              <a:rPr lang="pl-PL" dirty="0"/>
              <a:t>Identyfikacja instrumentów</a:t>
            </a:r>
          </a:p>
          <a:p>
            <a:r>
              <a:rPr lang="pl-PL" dirty="0"/>
              <a:t>Klasyfikacja audio</a:t>
            </a:r>
          </a:p>
          <a:p>
            <a:r>
              <a:rPr lang="pl-PL" dirty="0"/>
              <a:t>Diagnostyka przemysłowa</a:t>
            </a:r>
          </a:p>
        </p:txBody>
      </p:sp>
    </p:spTree>
    <p:extLst>
      <p:ext uri="{BB962C8B-B14F-4D97-AF65-F5344CB8AC3E}">
        <p14:creationId xmlns:p14="http://schemas.microsoft.com/office/powerpoint/2010/main" val="1184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4ADFD4-F636-CB90-EA56-24493F217112}"/>
              </a:ext>
            </a:extLst>
          </p:cNvPr>
          <p:cNvSpPr>
            <a:spLocks noGrp="1"/>
          </p:cNvSpPr>
          <p:nvPr>
            <p:ph type="title"/>
          </p:nvPr>
        </p:nvSpPr>
        <p:spPr/>
        <p:txBody>
          <a:bodyPr/>
          <a:lstStyle/>
          <a:p>
            <a:r>
              <a:rPr lang="pl-PL" dirty="0"/>
              <a:t>Przejście do dziedziny częstotliwości – Transformata Fouriera</a:t>
            </a:r>
          </a:p>
        </p:txBody>
      </p:sp>
      <mc:AlternateContent xmlns:mc="http://schemas.openxmlformats.org/markup-compatibility/2006">
        <mc:Choice xmlns:a14="http://schemas.microsoft.com/office/drawing/2010/main" Requires="a14">
          <p:sp>
            <p:nvSpPr>
              <p:cNvPr id="3" name="Symbol zastępczy zawartości 2">
                <a:extLst>
                  <a:ext uri="{FF2B5EF4-FFF2-40B4-BE49-F238E27FC236}">
                    <a16:creationId xmlns:a16="http://schemas.microsoft.com/office/drawing/2014/main" id="{2CD72840-1547-9B7C-0E7C-AB5CC1BE9950}"/>
                  </a:ext>
                </a:extLst>
              </p:cNvPr>
              <p:cNvSpPr>
                <a:spLocks noGrp="1"/>
              </p:cNvSpPr>
              <p:nvPr>
                <p:ph idx="1"/>
              </p:nvPr>
            </p:nvSpPr>
            <p:spPr/>
            <p:txBody>
              <a:bodyPr/>
              <a:lstStyle/>
              <a:p>
                <a:pPr marL="0" indent="0">
                  <a:buNone/>
                </a:pPr>
                <a:r>
                  <a:rPr lang="pl-PL" dirty="0"/>
                  <a:t>Transformata Fouriera to sposób zamiany sygnału z „dziedziny czasu” na „dziedzinę częstotliwości”. Rozkłada ona sygnał na sinusoidy. Mówi jakie częstotliwości znajdują się w sygnale.</a:t>
                </a:r>
              </a:p>
              <a:p>
                <a:r>
                  <a:rPr lang="pl-PL" dirty="0"/>
                  <a:t>dźwięk to fala w czasie, </a:t>
                </a:r>
              </a:p>
              <a:p>
                <a:r>
                  <a:rPr lang="pl-PL" dirty="0"/>
                  <a:t>po transformacie widzimy składowe harmoniczne.</a:t>
                </a:r>
              </a:p>
              <a:p>
                <a:endParaRPr lang="pl-PL" dirty="0"/>
              </a:p>
              <a:p>
                <a:pPr marL="0" indent="0">
                  <a:buNone/>
                </a:pPr>
                <a14:m>
                  <m:oMathPara xmlns:m="http://schemas.openxmlformats.org/officeDocument/2006/math">
                    <m:oMathParaPr>
                      <m:jc m:val="centerGroup"/>
                    </m:oMathParaPr>
                    <m:oMath xmlns:m="http://schemas.openxmlformats.org/officeDocument/2006/math">
                      <m:r>
                        <a:rPr lang="pl-PL" b="0" i="1" smtClean="0">
                          <a:latin typeface="Cambria Math" panose="02040503050406030204" pitchFamily="18" charset="0"/>
                        </a:rPr>
                        <m:t>𝑋</m:t>
                      </m:r>
                      <m:d>
                        <m:dPr>
                          <m:ctrlPr>
                            <a:rPr lang="pl-PL" b="0" i="1" smtClean="0">
                              <a:latin typeface="Cambria Math" panose="02040503050406030204" pitchFamily="18" charset="0"/>
                            </a:rPr>
                          </m:ctrlPr>
                        </m:dPr>
                        <m:e>
                          <m:r>
                            <a:rPr lang="pl-PL" b="0" i="1" smtClean="0">
                              <a:latin typeface="Cambria Math" panose="02040503050406030204" pitchFamily="18" charset="0"/>
                            </a:rPr>
                            <m:t>𝑓</m:t>
                          </m:r>
                        </m:e>
                      </m:d>
                      <m:r>
                        <a:rPr lang="pl-PL" b="0" i="1" smtClean="0">
                          <a:latin typeface="Cambria Math" panose="02040503050406030204" pitchFamily="18" charset="0"/>
                        </a:rPr>
                        <m:t>=</m:t>
                      </m:r>
                      <m:nary>
                        <m:naryPr>
                          <m:limLoc m:val="undOvr"/>
                          <m:subHide m:val="on"/>
                          <m:supHide m:val="on"/>
                          <m:ctrlPr>
                            <a:rPr lang="pl-PL" b="0" i="1" smtClean="0">
                              <a:latin typeface="Cambria Math" panose="02040503050406030204" pitchFamily="18" charset="0"/>
                            </a:rPr>
                          </m:ctrlPr>
                        </m:naryPr>
                        <m:sub/>
                        <m:sup/>
                        <m:e>
                          <m:r>
                            <a:rPr lang="pl-PL" b="0" i="1" smtClean="0">
                              <a:latin typeface="Cambria Math" panose="02040503050406030204" pitchFamily="18" charset="0"/>
                            </a:rPr>
                            <m:t>𝑥</m:t>
                          </m:r>
                          <m:r>
                            <a:rPr lang="pl-PL" b="0" i="1" smtClean="0">
                              <a:latin typeface="Cambria Math" panose="02040503050406030204" pitchFamily="18" charset="0"/>
                            </a:rPr>
                            <m:t>(</m:t>
                          </m:r>
                          <m:r>
                            <a:rPr lang="pl-PL" b="0" i="1" smtClean="0">
                              <a:latin typeface="Cambria Math" panose="02040503050406030204" pitchFamily="18" charset="0"/>
                            </a:rPr>
                            <m:t>𝑡</m:t>
                          </m:r>
                          <m:r>
                            <a:rPr lang="pl-PL" b="0" i="1" smtClean="0">
                              <a:latin typeface="Cambria Math" panose="02040503050406030204" pitchFamily="18" charset="0"/>
                            </a:rPr>
                            <m:t>)</m:t>
                          </m:r>
                          <m:sSup>
                            <m:sSupPr>
                              <m:ctrlPr>
                                <a:rPr lang="pl-PL" b="0" i="1" smtClean="0">
                                  <a:latin typeface="Cambria Math" panose="02040503050406030204" pitchFamily="18" charset="0"/>
                                </a:rPr>
                              </m:ctrlPr>
                            </m:sSupPr>
                            <m:e>
                              <m:r>
                                <a:rPr lang="pl-PL" b="0" i="1" smtClean="0">
                                  <a:latin typeface="Cambria Math" panose="02040503050406030204" pitchFamily="18" charset="0"/>
                                </a:rPr>
                                <m:t>𝑒</m:t>
                              </m:r>
                            </m:e>
                            <m:sup>
                              <m:r>
                                <a:rPr lang="pl-PL" b="0" i="1" smtClean="0">
                                  <a:latin typeface="Cambria Math" panose="02040503050406030204" pitchFamily="18" charset="0"/>
                                </a:rPr>
                                <m:t>−</m:t>
                              </m:r>
                              <m:r>
                                <a:rPr lang="pl-PL" b="0" i="1" smtClean="0">
                                  <a:latin typeface="Cambria Math" panose="02040503050406030204" pitchFamily="18" charset="0"/>
                                </a:rPr>
                                <m:t>𝑗</m:t>
                              </m:r>
                              <m:r>
                                <a:rPr lang="pl-PL" b="0" i="1" smtClean="0">
                                  <a:latin typeface="Cambria Math" panose="02040503050406030204" pitchFamily="18" charset="0"/>
                                </a:rPr>
                                <m:t>2</m:t>
                              </m:r>
                              <m:r>
                                <a:rPr lang="pl-PL" b="0" i="1" smtClean="0">
                                  <a:latin typeface="Cambria Math" panose="02040503050406030204" pitchFamily="18" charset="0"/>
                                  <a:ea typeface="Cambria Math" panose="02040503050406030204" pitchFamily="18" charset="0"/>
                                </a:rPr>
                                <m:t>𝜋</m:t>
                              </m:r>
                              <m:r>
                                <a:rPr lang="pl-PL" b="0" i="1" smtClean="0">
                                  <a:latin typeface="Cambria Math" panose="02040503050406030204" pitchFamily="18" charset="0"/>
                                  <a:ea typeface="Cambria Math" panose="02040503050406030204" pitchFamily="18" charset="0"/>
                                </a:rPr>
                                <m:t>𝑡𝑓</m:t>
                              </m:r>
                            </m:sup>
                          </m:sSup>
                          <m:r>
                            <a:rPr lang="pl-PL" b="0" i="1" smtClean="0">
                              <a:latin typeface="Cambria Math" panose="02040503050406030204" pitchFamily="18" charset="0"/>
                            </a:rPr>
                            <m:t>𝑑𝑡</m:t>
                          </m:r>
                        </m:e>
                      </m:nary>
                    </m:oMath>
                  </m:oMathPara>
                </a14:m>
                <a:endParaRPr lang="pl-PL" dirty="0"/>
              </a:p>
            </p:txBody>
          </p:sp>
        </mc:Choice>
        <mc:Fallback>
          <p:sp>
            <p:nvSpPr>
              <p:cNvPr id="3" name="Symbol zastępczy zawartości 2">
                <a:extLst>
                  <a:ext uri="{FF2B5EF4-FFF2-40B4-BE49-F238E27FC236}">
                    <a16:creationId xmlns:a16="http://schemas.microsoft.com/office/drawing/2014/main" id="{2CD72840-1547-9B7C-0E7C-AB5CC1BE9950}"/>
                  </a:ext>
                </a:extLst>
              </p:cNvPr>
              <p:cNvSpPr>
                <a:spLocks noGrp="1" noRot="1" noChangeAspect="1" noMove="1" noResize="1" noEditPoints="1" noAdjustHandles="1" noChangeArrowheads="1" noChangeShapeType="1" noTextEdit="1"/>
              </p:cNvSpPr>
              <p:nvPr>
                <p:ph idx="1"/>
              </p:nvPr>
            </p:nvSpPr>
            <p:spPr>
              <a:blipFill>
                <a:blip r:embed="rId2"/>
                <a:stretch>
                  <a:fillRect l="-1217" t="-2381" r="-1159"/>
                </a:stretch>
              </a:blipFill>
            </p:spPr>
            <p:txBody>
              <a:bodyPr/>
              <a:lstStyle/>
              <a:p>
                <a:r>
                  <a:rPr lang="pl-PL">
                    <a:noFill/>
                  </a:rPr>
                  <a:t> </a:t>
                </a:r>
              </a:p>
            </p:txBody>
          </p:sp>
        </mc:Fallback>
      </mc:AlternateContent>
    </p:spTree>
    <p:extLst>
      <p:ext uri="{BB962C8B-B14F-4D97-AF65-F5344CB8AC3E}">
        <p14:creationId xmlns:p14="http://schemas.microsoft.com/office/powerpoint/2010/main" val="2787613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BCC3BAD-BD21-D0F4-D55C-D255D9FCB3F1}"/>
              </a:ext>
            </a:extLst>
          </p:cNvPr>
          <p:cNvSpPr>
            <a:spLocks noGrp="1"/>
          </p:cNvSpPr>
          <p:nvPr>
            <p:ph type="title"/>
          </p:nvPr>
        </p:nvSpPr>
        <p:spPr/>
        <p:txBody>
          <a:bodyPr/>
          <a:lstStyle/>
          <a:p>
            <a:r>
              <a:rPr lang="pl-PL" dirty="0" err="1"/>
              <a:t>Discret</a:t>
            </a:r>
            <a:r>
              <a:rPr lang="pl-PL" dirty="0"/>
              <a:t> Fourier </a:t>
            </a:r>
            <a:r>
              <a:rPr lang="pl-PL" dirty="0" err="1"/>
              <a:t>Transform</a:t>
            </a:r>
            <a:endParaRPr lang="pl-PL" dirty="0"/>
          </a:p>
        </p:txBody>
      </p:sp>
      <mc:AlternateContent xmlns:mc="http://schemas.openxmlformats.org/markup-compatibility/2006">
        <mc:Choice xmlns:a14="http://schemas.microsoft.com/office/drawing/2010/main" Requires="a14">
          <p:sp>
            <p:nvSpPr>
              <p:cNvPr id="3" name="Symbol zastępczy zawartości 2">
                <a:extLst>
                  <a:ext uri="{FF2B5EF4-FFF2-40B4-BE49-F238E27FC236}">
                    <a16:creationId xmlns:a16="http://schemas.microsoft.com/office/drawing/2014/main" id="{13B5F588-AC44-9FA7-4F5B-908900F01186}"/>
                  </a:ext>
                </a:extLst>
              </p:cNvPr>
              <p:cNvSpPr>
                <a:spLocks noGrp="1"/>
              </p:cNvSpPr>
              <p:nvPr>
                <p:ph idx="1"/>
              </p:nvPr>
            </p:nvSpPr>
            <p:spPr/>
            <p:txBody>
              <a:bodyPr/>
              <a:lstStyle/>
              <a:p>
                <a:pPr marL="0" indent="0">
                  <a:buNone/>
                </a:pPr>
                <a:r>
                  <a:rPr lang="pl-PL" dirty="0"/>
                  <a:t>Klasyczna Transformata Fouriera działa jednak na sygnałach ciągłych. Dźwięk zapisywany cyfrowo jest jednak próbkowany. Żeby zatem poprawnie przejść na dziedzinę częstotliwości dla sygnałów cyfrowych musimy użyć </a:t>
                </a:r>
                <a:r>
                  <a:rPr lang="pl-PL" dirty="0" err="1"/>
                  <a:t>Dydkretnej</a:t>
                </a:r>
                <a:r>
                  <a:rPr lang="pl-PL" dirty="0"/>
                  <a:t> Transformaty Fouriera.</a:t>
                </a:r>
              </a:p>
              <a:p>
                <a:pPr marL="0" indent="0">
                  <a:buNone/>
                </a:pPr>
                <a:endParaRPr lang="pl-PL" dirty="0"/>
              </a:p>
              <a:p>
                <a:pPr marL="0" indent="0">
                  <a:buNone/>
                </a:pPr>
                <a14:m>
                  <m:oMathPara xmlns:m="http://schemas.openxmlformats.org/officeDocument/2006/math">
                    <m:oMathParaPr>
                      <m:jc m:val="centerGroup"/>
                    </m:oMathParaPr>
                    <m:oMath xmlns:m="http://schemas.openxmlformats.org/officeDocument/2006/math">
                      <m:sSub>
                        <m:sSubPr>
                          <m:ctrlPr>
                            <a:rPr lang="pl-PL"/>
                          </m:ctrlPr>
                        </m:sSubPr>
                        <m:e>
                          <m:r>
                            <a:rPr lang="pl-PL" i="1"/>
                            <m:t>𝑋</m:t>
                          </m:r>
                        </m:e>
                        <m:sub>
                          <m:r>
                            <a:rPr lang="pl-PL" i="1"/>
                            <m:t>𝑘</m:t>
                          </m:r>
                        </m:sub>
                      </m:sSub>
                      <m:r>
                        <a:rPr lang="pl-PL"/>
                        <m:t>=</m:t>
                      </m:r>
                      <m:nary>
                        <m:naryPr>
                          <m:chr m:val="∑"/>
                          <m:limLoc m:val="subSup"/>
                          <m:grow m:val="on"/>
                          <m:ctrlPr>
                            <a:rPr lang="pl-PL" i="1"/>
                          </m:ctrlPr>
                        </m:naryPr>
                        <m:sub>
                          <m:r>
                            <a:rPr lang="pl-PL" i="1"/>
                            <m:t>𝑛</m:t>
                          </m:r>
                          <m:r>
                            <a:rPr lang="pl-PL"/>
                            <m:t>=0</m:t>
                          </m:r>
                        </m:sub>
                        <m:sup>
                          <m:r>
                            <a:rPr lang="pl-PL" i="1"/>
                            <m:t>𝑁</m:t>
                          </m:r>
                          <m:r>
                            <a:rPr lang="pl-PL"/>
                            <m:t>−1</m:t>
                          </m:r>
                        </m:sup>
                        <m:e>
                          <m:sSub>
                            <m:sSubPr>
                              <m:ctrlPr>
                                <a:rPr lang="pl-PL" i="1"/>
                              </m:ctrlPr>
                            </m:sSubPr>
                            <m:e>
                              <m:r>
                                <a:rPr lang="pl-PL" i="1"/>
                                <m:t>𝑥</m:t>
                              </m:r>
                            </m:e>
                            <m:sub>
                              <m:r>
                                <a:rPr lang="pl-PL" i="1"/>
                                <m:t>𝑛</m:t>
                              </m:r>
                            </m:sub>
                          </m:sSub>
                        </m:e>
                      </m:nary>
                      <m:sSup>
                        <m:sSupPr>
                          <m:ctrlPr>
                            <a:rPr lang="pl-PL" i="1"/>
                          </m:ctrlPr>
                        </m:sSupPr>
                        <m:e>
                          <m:r>
                            <a:rPr lang="pl-PL" i="1"/>
                            <m:t>𝑒</m:t>
                          </m:r>
                        </m:e>
                        <m:sup>
                          <m:r>
                            <a:rPr lang="pl-PL"/>
                            <m:t>−</m:t>
                          </m:r>
                          <m:r>
                            <a:rPr lang="pl-PL" b="0" i="1" smtClean="0">
                              <a:latin typeface="Cambria Math" panose="02040503050406030204" pitchFamily="18" charset="0"/>
                            </a:rPr>
                            <m:t>𝑖</m:t>
                          </m:r>
                          <m:f>
                            <m:fPr>
                              <m:ctrlPr>
                                <a:rPr lang="pl-PL" i="1" smtClean="0">
                                  <a:latin typeface="Cambria Math" panose="02040503050406030204" pitchFamily="18" charset="0"/>
                                </a:rPr>
                              </m:ctrlPr>
                            </m:fPr>
                            <m:num>
                              <m:r>
                                <a:rPr lang="pl-PL">
                                  <a:latin typeface="Cambria Math" panose="02040503050406030204" pitchFamily="18" charset="0"/>
                                </a:rPr>
                                <m:t>2</m:t>
                              </m:r>
                              <m:r>
                                <a:rPr lang="pl-PL" i="1">
                                  <a:latin typeface="Cambria Math" panose="02040503050406030204" pitchFamily="18" charset="0"/>
                                </a:rPr>
                                <m:t>𝜋</m:t>
                              </m:r>
                              <m:r>
                                <a:rPr lang="pl-PL" i="1">
                                  <a:latin typeface="Cambria Math" panose="02040503050406030204" pitchFamily="18" charset="0"/>
                                </a:rPr>
                                <m:t>𝑘𝑛</m:t>
                              </m:r>
                            </m:num>
                            <m:den>
                              <m:r>
                                <a:rPr lang="pl-PL" b="0" i="1" smtClean="0">
                                  <a:latin typeface="Cambria Math" panose="02040503050406030204" pitchFamily="18" charset="0"/>
                                </a:rPr>
                                <m:t>𝑁</m:t>
                              </m:r>
                            </m:den>
                          </m:f>
                        </m:sup>
                      </m:sSup>
                    </m:oMath>
                  </m:oMathPara>
                </a14:m>
                <a:endParaRPr lang="pl-PL" dirty="0"/>
              </a:p>
            </p:txBody>
          </p:sp>
        </mc:Choice>
        <mc:Fallback>
          <p:sp>
            <p:nvSpPr>
              <p:cNvPr id="3" name="Symbol zastępczy zawartości 2">
                <a:extLst>
                  <a:ext uri="{FF2B5EF4-FFF2-40B4-BE49-F238E27FC236}">
                    <a16:creationId xmlns:a16="http://schemas.microsoft.com/office/drawing/2014/main" id="{13B5F588-AC44-9FA7-4F5B-908900F01186}"/>
                  </a:ext>
                </a:extLst>
              </p:cNvPr>
              <p:cNvSpPr>
                <a:spLocks noGrp="1" noRot="1" noChangeAspect="1" noMove="1" noResize="1" noEditPoints="1" noAdjustHandles="1" noChangeArrowheads="1" noChangeShapeType="1" noTextEdit="1"/>
              </p:cNvSpPr>
              <p:nvPr>
                <p:ph idx="1"/>
              </p:nvPr>
            </p:nvSpPr>
            <p:spPr>
              <a:blipFill>
                <a:blip r:embed="rId2"/>
                <a:stretch>
                  <a:fillRect l="-1217" t="-2381" r="-1159"/>
                </a:stretch>
              </a:blipFill>
            </p:spPr>
            <p:txBody>
              <a:bodyPr/>
              <a:lstStyle/>
              <a:p>
                <a:r>
                  <a:rPr lang="pl-PL">
                    <a:noFill/>
                  </a:rPr>
                  <a:t> </a:t>
                </a:r>
              </a:p>
            </p:txBody>
          </p:sp>
        </mc:Fallback>
      </mc:AlternateContent>
    </p:spTree>
    <p:extLst>
      <p:ext uri="{BB962C8B-B14F-4D97-AF65-F5344CB8AC3E}">
        <p14:creationId xmlns:p14="http://schemas.microsoft.com/office/powerpoint/2010/main" val="2483833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9835D37-EA3D-F498-46F1-3622697A229D}"/>
              </a:ext>
            </a:extLst>
          </p:cNvPr>
          <p:cNvSpPr>
            <a:spLocks noGrp="1"/>
          </p:cNvSpPr>
          <p:nvPr>
            <p:ph type="title"/>
          </p:nvPr>
        </p:nvSpPr>
        <p:spPr/>
        <p:txBody>
          <a:bodyPr/>
          <a:lstStyle/>
          <a:p>
            <a:r>
              <a:rPr lang="pl-PL" dirty="0"/>
              <a:t>FFT i DTFT</a:t>
            </a:r>
          </a:p>
        </p:txBody>
      </p:sp>
      <mc:AlternateContent xmlns:mc="http://schemas.openxmlformats.org/markup-compatibility/2006">
        <mc:Choice xmlns:a14="http://schemas.microsoft.com/office/drawing/2010/main" Requires="a14">
          <p:sp>
            <p:nvSpPr>
              <p:cNvPr id="3" name="Symbol zastępczy zawartości 2">
                <a:extLst>
                  <a:ext uri="{FF2B5EF4-FFF2-40B4-BE49-F238E27FC236}">
                    <a16:creationId xmlns:a16="http://schemas.microsoft.com/office/drawing/2014/main" id="{67DFB3F2-2EF5-A036-75EC-9679DF130415}"/>
                  </a:ext>
                </a:extLst>
              </p:cNvPr>
              <p:cNvSpPr>
                <a:spLocks noGrp="1"/>
              </p:cNvSpPr>
              <p:nvPr>
                <p:ph idx="1"/>
              </p:nvPr>
            </p:nvSpPr>
            <p:spPr>
              <a:xfrm>
                <a:off x="838200" y="1690688"/>
                <a:ext cx="10515600" cy="4486275"/>
              </a:xfrm>
            </p:spPr>
            <p:txBody>
              <a:bodyPr>
                <a:normAutofit/>
              </a:bodyPr>
              <a:lstStyle/>
              <a:p>
                <a:pPr marL="0" indent="0">
                  <a:buNone/>
                </a:pPr>
                <a:r>
                  <a:rPr lang="pl-PL" dirty="0"/>
                  <a:t>Fast Fourier </a:t>
                </a:r>
                <a:r>
                  <a:rPr lang="pl-PL" dirty="0" err="1"/>
                  <a:t>Transform</a:t>
                </a:r>
                <a:r>
                  <a:rPr lang="pl-PL" dirty="0"/>
                  <a:t> </a:t>
                </a:r>
              </a:p>
              <a:p>
                <a:r>
                  <a:rPr lang="pl-PL" dirty="0"/>
                  <a:t>Szybki algorytm obliczający DTFT. </a:t>
                </a:r>
              </a:p>
              <a:p>
                <a:r>
                  <a:rPr lang="pl-PL" dirty="0"/>
                  <a:t>Redukuje złożoność obliczeniową z O(n</a:t>
                </a:r>
                <a:r>
                  <a:rPr lang="pl-PL" baseline="30000" dirty="0"/>
                  <a:t>2</a:t>
                </a:r>
                <a:r>
                  <a:rPr lang="pl-PL" dirty="0"/>
                  <a:t>) do O(</a:t>
                </a:r>
                <a:r>
                  <a:rPr lang="pl-PL" dirty="0" err="1"/>
                  <a:t>nlogn</a:t>
                </a:r>
                <a:r>
                  <a:rPr lang="pl-PL" dirty="0"/>
                  <a:t>).</a:t>
                </a:r>
              </a:p>
              <a:p>
                <a:pPr marL="0" indent="0">
                  <a:buNone/>
                </a:pPr>
                <a:endParaRPr lang="pl-PL" dirty="0"/>
              </a:p>
              <a:p>
                <a:pPr marL="0" indent="0">
                  <a:buNone/>
                </a:pPr>
                <a:r>
                  <a:rPr lang="pl-PL" dirty="0" err="1"/>
                  <a:t>Discret</a:t>
                </a:r>
                <a:r>
                  <a:rPr lang="pl-PL" dirty="0"/>
                  <a:t> Time Fourier </a:t>
                </a:r>
                <a:r>
                  <a:rPr lang="pl-PL" dirty="0" err="1"/>
                  <a:t>Transform</a:t>
                </a:r>
                <a:endParaRPr lang="pl-PL" dirty="0"/>
              </a:p>
              <a:p>
                <a:r>
                  <a:rPr lang="pl-PL" dirty="0"/>
                  <a:t>Traktujemy częstotliwości jako ciągłe pomimo próbkowanego czasu</a:t>
                </a:r>
              </a:p>
              <a:p>
                <a:pPr marL="0" indent="0">
                  <a:buNone/>
                </a:pPr>
                <a14:m>
                  <m:oMathPara xmlns:m="http://schemas.openxmlformats.org/officeDocument/2006/math">
                    <m:oMathParaPr>
                      <m:jc m:val="centerGroup"/>
                    </m:oMathParaPr>
                    <m:oMath xmlns:m="http://schemas.openxmlformats.org/officeDocument/2006/math">
                      <m:r>
                        <m:rPr>
                          <m:nor/>
                        </m:rPr>
                        <a:rPr lang="pl-PL" smtClean="0">
                          <a:latin typeface="Cambria Math" panose="02040503050406030204" pitchFamily="18" charset="0"/>
                        </a:rPr>
                        <m:t>X</m:t>
                      </m:r>
                      <m:r>
                        <m:rPr>
                          <m:nor/>
                        </m:rPr>
                        <a:rPr lang="pl-PL"/>
                        <m:t>(</m:t>
                      </m:r>
                      <m:sSup>
                        <m:sSupPr>
                          <m:ctrlPr>
                            <a:rPr lang="pl-PL" i="1" smtClean="0">
                              <a:latin typeface="Cambria Math" panose="02040503050406030204" pitchFamily="18" charset="0"/>
                            </a:rPr>
                          </m:ctrlPr>
                        </m:sSupPr>
                        <m:e>
                          <m:r>
                            <a:rPr lang="pl-PL" b="0" i="1" smtClean="0">
                              <a:latin typeface="Cambria Math" panose="02040503050406030204" pitchFamily="18" charset="0"/>
                            </a:rPr>
                            <m:t>𝑒</m:t>
                          </m:r>
                        </m:e>
                        <m:sup>
                          <m:r>
                            <a:rPr lang="pl-PL" b="0" i="1" smtClean="0">
                              <a:latin typeface="Cambria Math" panose="02040503050406030204" pitchFamily="18" charset="0"/>
                            </a:rPr>
                            <m:t>𝑖</m:t>
                          </m:r>
                          <m:r>
                            <a:rPr lang="pl-PL" b="0" i="1" smtClean="0">
                              <a:latin typeface="Cambria Math" panose="02040503050406030204" pitchFamily="18" charset="0"/>
                              <a:ea typeface="Cambria Math" panose="02040503050406030204" pitchFamily="18" charset="0"/>
                            </a:rPr>
                            <m:t>𝜔</m:t>
                          </m:r>
                        </m:sup>
                      </m:sSup>
                      <m:r>
                        <m:rPr>
                          <m:nor/>
                        </m:rPr>
                        <a:rPr lang="el-GR"/>
                        <m:t>)=</m:t>
                      </m:r>
                      <m:nary>
                        <m:naryPr>
                          <m:chr m:val="∑"/>
                          <m:ctrlPr>
                            <a:rPr lang="el-GR" i="1" smtClean="0">
                              <a:latin typeface="Cambria Math" panose="02040503050406030204" pitchFamily="18" charset="0"/>
                            </a:rPr>
                          </m:ctrlPr>
                        </m:naryPr>
                        <m:sub>
                          <m:r>
                            <m:rPr>
                              <m:brk m:alnAt="23"/>
                            </m:rPr>
                            <a:rPr lang="pl-PL" b="0" i="1" smtClean="0">
                              <a:latin typeface="Cambria Math" panose="02040503050406030204" pitchFamily="18" charset="0"/>
                            </a:rPr>
                            <m:t>𝑛</m:t>
                          </m:r>
                          <m:r>
                            <a:rPr lang="pl-PL" b="0" i="1" smtClean="0">
                              <a:latin typeface="Cambria Math" panose="02040503050406030204" pitchFamily="18" charset="0"/>
                            </a:rPr>
                            <m:t>=−∞</m:t>
                          </m:r>
                        </m:sub>
                        <m:sup>
                          <m:r>
                            <a:rPr lang="el-GR" i="1" smtClean="0">
                              <a:latin typeface="Cambria Math" panose="02040503050406030204" pitchFamily="18" charset="0"/>
                              <a:ea typeface="Cambria Math" panose="02040503050406030204" pitchFamily="18" charset="0"/>
                            </a:rPr>
                            <m:t>∞</m:t>
                          </m:r>
                        </m:sup>
                        <m:e>
                          <m:r>
                            <a:rPr lang="pl-PL" b="0" i="1" smtClean="0">
                              <a:latin typeface="Cambria Math" panose="02040503050406030204" pitchFamily="18" charset="0"/>
                            </a:rPr>
                            <m:t>𝑥</m:t>
                          </m:r>
                          <m:r>
                            <a:rPr lang="pl-PL" b="0" i="1" smtClean="0">
                              <a:latin typeface="Cambria Math" panose="02040503050406030204" pitchFamily="18" charset="0"/>
                            </a:rPr>
                            <m:t>[</m:t>
                          </m:r>
                          <m:r>
                            <a:rPr lang="pl-PL" b="0" i="1" smtClean="0">
                              <a:latin typeface="Cambria Math" panose="02040503050406030204" pitchFamily="18" charset="0"/>
                            </a:rPr>
                            <m:t>𝑛</m:t>
                          </m:r>
                          <m:r>
                            <a:rPr lang="pl-PL" b="0" i="1" smtClean="0">
                              <a:latin typeface="Cambria Math" panose="02040503050406030204" pitchFamily="18" charset="0"/>
                            </a:rPr>
                            <m:t>]</m:t>
                          </m:r>
                          <m:sSup>
                            <m:sSupPr>
                              <m:ctrlPr>
                                <a:rPr lang="pl-PL" b="0" i="1" smtClean="0">
                                  <a:latin typeface="Cambria Math" panose="02040503050406030204" pitchFamily="18" charset="0"/>
                                </a:rPr>
                              </m:ctrlPr>
                            </m:sSupPr>
                            <m:e>
                              <m:r>
                                <a:rPr lang="pl-PL" b="0" i="1" smtClean="0">
                                  <a:latin typeface="Cambria Math" panose="02040503050406030204" pitchFamily="18" charset="0"/>
                                </a:rPr>
                                <m:t>𝑒</m:t>
                              </m:r>
                            </m:e>
                            <m:sup>
                              <m:r>
                                <a:rPr lang="pl-PL" b="0" i="1" smtClean="0">
                                  <a:latin typeface="Cambria Math" panose="02040503050406030204" pitchFamily="18" charset="0"/>
                                </a:rPr>
                                <m:t>−</m:t>
                              </m:r>
                              <m:r>
                                <a:rPr lang="pl-PL" b="0" i="1" smtClean="0">
                                  <a:latin typeface="Cambria Math" panose="02040503050406030204" pitchFamily="18" charset="0"/>
                                  <a:ea typeface="Cambria Math" panose="02040503050406030204" pitchFamily="18" charset="0"/>
                                </a:rPr>
                                <m:t>𝜔</m:t>
                              </m:r>
                              <m:r>
                                <a:rPr lang="pl-PL" b="0" i="1" smtClean="0">
                                  <a:latin typeface="Cambria Math" panose="02040503050406030204" pitchFamily="18" charset="0"/>
                                  <a:ea typeface="Cambria Math" panose="02040503050406030204" pitchFamily="18" charset="0"/>
                                </a:rPr>
                                <m:t>𝑛</m:t>
                              </m:r>
                            </m:sup>
                          </m:sSup>
                        </m:e>
                      </m:nary>
                    </m:oMath>
                  </m:oMathPara>
                </a14:m>
                <a:endParaRPr lang="pl-PL" dirty="0"/>
              </a:p>
            </p:txBody>
          </p:sp>
        </mc:Choice>
        <mc:Fallback>
          <p:sp>
            <p:nvSpPr>
              <p:cNvPr id="3" name="Symbol zastępczy zawartości 2">
                <a:extLst>
                  <a:ext uri="{FF2B5EF4-FFF2-40B4-BE49-F238E27FC236}">
                    <a16:creationId xmlns:a16="http://schemas.microsoft.com/office/drawing/2014/main" id="{67DFB3F2-2EF5-A036-75EC-9679DF130415}"/>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2"/>
                <a:stretch>
                  <a:fillRect l="-1217" t="-2310" r="-1159"/>
                </a:stretch>
              </a:blipFill>
            </p:spPr>
            <p:txBody>
              <a:bodyPr/>
              <a:lstStyle/>
              <a:p>
                <a:r>
                  <a:rPr lang="pl-PL">
                    <a:noFill/>
                  </a:rPr>
                  <a:t> </a:t>
                </a:r>
              </a:p>
            </p:txBody>
          </p:sp>
        </mc:Fallback>
      </mc:AlternateContent>
    </p:spTree>
    <p:extLst>
      <p:ext uri="{BB962C8B-B14F-4D97-AF65-F5344CB8AC3E}">
        <p14:creationId xmlns:p14="http://schemas.microsoft.com/office/powerpoint/2010/main" val="2625068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76930A-C802-41BB-C3BA-0A09A6B9911F}"/>
              </a:ext>
            </a:extLst>
          </p:cNvPr>
          <p:cNvSpPr>
            <a:spLocks noGrp="1"/>
          </p:cNvSpPr>
          <p:nvPr>
            <p:ph type="title"/>
          </p:nvPr>
        </p:nvSpPr>
        <p:spPr/>
        <p:txBody>
          <a:bodyPr/>
          <a:lstStyle/>
          <a:p>
            <a:r>
              <a:rPr lang="pl-PL" dirty="0"/>
              <a:t>Spektrogram</a:t>
            </a:r>
          </a:p>
        </p:txBody>
      </p:sp>
      <p:sp>
        <p:nvSpPr>
          <p:cNvPr id="3" name="Symbol zastępczy zawartości 2">
            <a:extLst>
              <a:ext uri="{FF2B5EF4-FFF2-40B4-BE49-F238E27FC236}">
                <a16:creationId xmlns:a16="http://schemas.microsoft.com/office/drawing/2014/main" id="{E55A2F19-B7E6-BA9D-4A9C-0157803341AF}"/>
              </a:ext>
            </a:extLst>
          </p:cNvPr>
          <p:cNvSpPr>
            <a:spLocks noGrp="1"/>
          </p:cNvSpPr>
          <p:nvPr>
            <p:ph idx="1"/>
          </p:nvPr>
        </p:nvSpPr>
        <p:spPr/>
        <p:txBody>
          <a:bodyPr/>
          <a:lstStyle/>
          <a:p>
            <a:r>
              <a:rPr lang="pl-PL" dirty="0"/>
              <a:t>Wykres pokazujący widmo dźwięku zmieniające się w czasie</a:t>
            </a:r>
          </a:p>
        </p:txBody>
      </p:sp>
      <p:pic>
        <p:nvPicPr>
          <p:cNvPr id="5" name="Obraz 4">
            <a:extLst>
              <a:ext uri="{FF2B5EF4-FFF2-40B4-BE49-F238E27FC236}">
                <a16:creationId xmlns:a16="http://schemas.microsoft.com/office/drawing/2014/main" id="{FAC21E30-6AE6-B22E-CC0D-7F27328B2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0382" y="2307456"/>
            <a:ext cx="8014143" cy="4007072"/>
          </a:xfrm>
          <a:prstGeom prst="rect">
            <a:avLst/>
          </a:prstGeom>
        </p:spPr>
      </p:pic>
    </p:spTree>
    <p:extLst>
      <p:ext uri="{BB962C8B-B14F-4D97-AF65-F5344CB8AC3E}">
        <p14:creationId xmlns:p14="http://schemas.microsoft.com/office/powerpoint/2010/main" val="3162370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EDBC974-880D-31F8-0923-DB98025A04A4}"/>
              </a:ext>
            </a:extLst>
          </p:cNvPr>
          <p:cNvSpPr>
            <a:spLocks noGrp="1"/>
          </p:cNvSpPr>
          <p:nvPr>
            <p:ph type="title"/>
          </p:nvPr>
        </p:nvSpPr>
        <p:spPr/>
        <p:txBody>
          <a:bodyPr/>
          <a:lstStyle/>
          <a:p>
            <a:r>
              <a:rPr lang="pl-PL" dirty="0"/>
              <a:t>Spektrogram</a:t>
            </a:r>
          </a:p>
        </p:txBody>
      </p:sp>
      <p:pic>
        <p:nvPicPr>
          <p:cNvPr id="5122" name="Picture 2" descr="Wolfram Signal: Signals, Systems and Signal Processing">
            <a:extLst>
              <a:ext uri="{FF2B5EF4-FFF2-40B4-BE49-F238E27FC236}">
                <a16:creationId xmlns:a16="http://schemas.microsoft.com/office/drawing/2014/main" id="{DD7A818D-5B2B-6B19-9EAD-9C4B25C277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3986" y="137619"/>
            <a:ext cx="11457511" cy="6249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30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88E77D8-6705-6226-28A2-EE786596D856}"/>
              </a:ext>
            </a:extLst>
          </p:cNvPr>
          <p:cNvSpPr>
            <a:spLocks noGrp="1"/>
          </p:cNvSpPr>
          <p:nvPr>
            <p:ph type="title"/>
          </p:nvPr>
        </p:nvSpPr>
        <p:spPr/>
        <p:txBody>
          <a:bodyPr/>
          <a:lstStyle/>
          <a:p>
            <a:r>
              <a:rPr lang="pl-PL" dirty="0"/>
              <a:t>Okna czasowe</a:t>
            </a:r>
          </a:p>
        </p:txBody>
      </p:sp>
      <p:sp>
        <p:nvSpPr>
          <p:cNvPr id="3" name="Symbol zastępczy zawartości 2">
            <a:extLst>
              <a:ext uri="{FF2B5EF4-FFF2-40B4-BE49-F238E27FC236}">
                <a16:creationId xmlns:a16="http://schemas.microsoft.com/office/drawing/2014/main" id="{6E09D762-EFC1-16CE-EB12-03288B87ADC7}"/>
              </a:ext>
            </a:extLst>
          </p:cNvPr>
          <p:cNvSpPr>
            <a:spLocks noGrp="1"/>
          </p:cNvSpPr>
          <p:nvPr>
            <p:ph idx="1"/>
          </p:nvPr>
        </p:nvSpPr>
        <p:spPr/>
        <p:txBody>
          <a:bodyPr>
            <a:normAutofit fontScale="92500"/>
          </a:bodyPr>
          <a:lstStyle/>
          <a:p>
            <a:pPr marL="0" indent="0">
              <a:buNone/>
            </a:pPr>
            <a:r>
              <a:rPr lang="pl-PL" dirty="0"/>
              <a:t>Okno czasowe to funkcja używana do wybrania skończonego fragmentu sygnału do analizy, zamiast patrzenia na niego w całości. Polega na wymnożeniu sygnału przez funkcję, która wygasza jego wartości poza badanym przedziałem czasu. Dzięki temu można analizować lokalne właściwości częstotliwościowe sygnału, ale sposób „ucięcia” wpływa też na dokładność wyniku w dziedzinie częstotliwości.</a:t>
            </a:r>
          </a:p>
          <a:p>
            <a:pPr marL="0" indent="0">
              <a:buNone/>
            </a:pPr>
            <a:r>
              <a:rPr lang="pl-PL" dirty="0"/>
              <a:t>Wyróżniamy okna:</a:t>
            </a:r>
          </a:p>
          <a:p>
            <a:r>
              <a:rPr lang="pl-PL" dirty="0" err="1"/>
              <a:t>Hamming</a:t>
            </a:r>
            <a:endParaRPr lang="pl-PL" dirty="0"/>
          </a:p>
          <a:p>
            <a:r>
              <a:rPr lang="pl-PL" dirty="0" err="1"/>
              <a:t>Hana</a:t>
            </a:r>
            <a:endParaRPr lang="pl-PL" dirty="0"/>
          </a:p>
          <a:p>
            <a:r>
              <a:rPr lang="pl-PL" dirty="0" err="1"/>
              <a:t>Blackman</a:t>
            </a:r>
            <a:endParaRPr lang="pl-PL" dirty="0"/>
          </a:p>
          <a:p>
            <a:endParaRPr lang="pl-PL" dirty="0"/>
          </a:p>
        </p:txBody>
      </p:sp>
    </p:spTree>
    <p:extLst>
      <p:ext uri="{BB962C8B-B14F-4D97-AF65-F5344CB8AC3E}">
        <p14:creationId xmlns:p14="http://schemas.microsoft.com/office/powerpoint/2010/main" val="61795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B6C8D46-50BF-7914-44D9-92B79EC7C72F}"/>
              </a:ext>
            </a:extLst>
          </p:cNvPr>
          <p:cNvSpPr>
            <a:spLocks noGrp="1"/>
          </p:cNvSpPr>
          <p:nvPr>
            <p:ph type="title"/>
          </p:nvPr>
        </p:nvSpPr>
        <p:spPr/>
        <p:txBody>
          <a:bodyPr/>
          <a:lstStyle/>
          <a:p>
            <a:r>
              <a:rPr lang="pl-PL" dirty="0"/>
              <a:t>Ekstrakcja cech</a:t>
            </a:r>
          </a:p>
        </p:txBody>
      </p:sp>
      <p:sp>
        <p:nvSpPr>
          <p:cNvPr id="3" name="Symbol zastępczy zawartości 2">
            <a:extLst>
              <a:ext uri="{FF2B5EF4-FFF2-40B4-BE49-F238E27FC236}">
                <a16:creationId xmlns:a16="http://schemas.microsoft.com/office/drawing/2014/main" id="{30529C48-88AF-809B-CFB8-AB46D5B47134}"/>
              </a:ext>
            </a:extLst>
          </p:cNvPr>
          <p:cNvSpPr>
            <a:spLocks noGrp="1"/>
          </p:cNvSpPr>
          <p:nvPr>
            <p:ph idx="1"/>
          </p:nvPr>
        </p:nvSpPr>
        <p:spPr/>
        <p:txBody>
          <a:bodyPr/>
          <a:lstStyle/>
          <a:p>
            <a:pPr marL="0" indent="0">
              <a:buNone/>
            </a:pPr>
            <a:r>
              <a:rPr lang="pl-PL" dirty="0"/>
              <a:t>Ekstrakcja cech to proces przekształcania surowych danych (np. obrazu, dźwięku czy sygnału liczbowego) w zestaw istotnych informacji, które lepiej opisują ich najważniejsze właściwości. Zamiast analizować całe dane „piksel po pikselu” lub „próbka po próbce”, wybiera się cechy takie jak krawędzie, częstotliwości, średnie wartości czy wzorce zmian. Dzięki temu modele (np. w uczeniu maszynowym) mogą łatwiej i szybciej rozpoznawać struktury i zależności w danych.</a:t>
            </a:r>
          </a:p>
          <a:p>
            <a:pPr marL="0" indent="0">
              <a:buNone/>
            </a:pPr>
            <a:endParaRPr lang="pl-PL" dirty="0"/>
          </a:p>
        </p:txBody>
      </p:sp>
    </p:spTree>
    <p:extLst>
      <p:ext uri="{BB962C8B-B14F-4D97-AF65-F5344CB8AC3E}">
        <p14:creationId xmlns:p14="http://schemas.microsoft.com/office/powerpoint/2010/main" val="1090849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CA78961-3768-7876-55CE-35D14BDC6FCB}"/>
              </a:ext>
            </a:extLst>
          </p:cNvPr>
          <p:cNvSpPr>
            <a:spLocks noGrp="1"/>
          </p:cNvSpPr>
          <p:nvPr>
            <p:ph type="title"/>
          </p:nvPr>
        </p:nvSpPr>
        <p:spPr/>
        <p:txBody>
          <a:bodyPr/>
          <a:lstStyle/>
          <a:p>
            <a:r>
              <a:rPr lang="pl-PL" dirty="0"/>
              <a:t>Ekstrakcja cech</a:t>
            </a:r>
          </a:p>
        </p:txBody>
      </p:sp>
      <p:sp>
        <p:nvSpPr>
          <p:cNvPr id="3" name="Symbol zastępczy zawartości 2">
            <a:extLst>
              <a:ext uri="{FF2B5EF4-FFF2-40B4-BE49-F238E27FC236}">
                <a16:creationId xmlns:a16="http://schemas.microsoft.com/office/drawing/2014/main" id="{C3269E97-50AC-F1A0-2719-5978AF7FB0C9}"/>
              </a:ext>
            </a:extLst>
          </p:cNvPr>
          <p:cNvSpPr>
            <a:spLocks noGrp="1"/>
          </p:cNvSpPr>
          <p:nvPr>
            <p:ph idx="1"/>
          </p:nvPr>
        </p:nvSpPr>
        <p:spPr/>
        <p:txBody>
          <a:bodyPr/>
          <a:lstStyle/>
          <a:p>
            <a:pPr marL="0" indent="0">
              <a:buNone/>
            </a:pPr>
            <a:r>
              <a:rPr lang="pl-PL" dirty="0"/>
              <a:t>Popularne cechy:</a:t>
            </a:r>
          </a:p>
          <a:p>
            <a:r>
              <a:rPr lang="pl-PL" b="1" dirty="0"/>
              <a:t>MFCC (Mel-</a:t>
            </a:r>
            <a:r>
              <a:rPr lang="pl-PL" b="1" dirty="0" err="1"/>
              <a:t>Frequency</a:t>
            </a:r>
            <a:r>
              <a:rPr lang="pl-PL" b="1" dirty="0"/>
              <a:t> </a:t>
            </a:r>
            <a:r>
              <a:rPr lang="pl-PL" b="1" dirty="0" err="1"/>
              <a:t>Cepstral</a:t>
            </a:r>
            <a:r>
              <a:rPr lang="pl-PL" b="1" dirty="0"/>
              <a:t> </a:t>
            </a:r>
            <a:r>
              <a:rPr lang="pl-PL" b="1" dirty="0" err="1"/>
              <a:t>Coefficients</a:t>
            </a:r>
            <a:r>
              <a:rPr lang="pl-PL" b="1" dirty="0"/>
              <a:t>)</a:t>
            </a:r>
            <a:r>
              <a:rPr lang="pl-PL" dirty="0"/>
              <a:t> – opisuje „kształt” widma dźwięku w sposób dopasowany do ludzkiego słuchu; bardzo popularne w rozpoznawaniu mowy i muzyki.</a:t>
            </a:r>
          </a:p>
          <a:p>
            <a:r>
              <a:rPr lang="pl-PL" b="1" dirty="0" err="1"/>
              <a:t>Spectral</a:t>
            </a:r>
            <a:r>
              <a:rPr lang="pl-PL" b="1" dirty="0"/>
              <a:t> centroid</a:t>
            </a:r>
            <a:r>
              <a:rPr lang="pl-PL" dirty="0"/>
              <a:t> – „środek ciężkości” widma; mówi, czy dźwięk brzmi raczej nisko (ciemno) czy wysoko (jasno).</a:t>
            </a:r>
          </a:p>
          <a:p>
            <a:r>
              <a:rPr lang="pl-PL" b="1" dirty="0" err="1"/>
              <a:t>Spectral</a:t>
            </a:r>
            <a:r>
              <a:rPr lang="pl-PL" b="1" dirty="0"/>
              <a:t> </a:t>
            </a:r>
            <a:r>
              <a:rPr lang="pl-PL" b="1" dirty="0" err="1"/>
              <a:t>rolloff</a:t>
            </a:r>
            <a:r>
              <a:rPr lang="pl-PL" dirty="0"/>
              <a:t> – częstotliwość, poniżej której znajduje się np. 85–95% energii sygnału; pokazuje, gdzie „kończy się” większość energii dźwięku.</a:t>
            </a:r>
          </a:p>
        </p:txBody>
      </p:sp>
    </p:spTree>
    <p:extLst>
      <p:ext uri="{BB962C8B-B14F-4D97-AF65-F5344CB8AC3E}">
        <p14:creationId xmlns:p14="http://schemas.microsoft.com/office/powerpoint/2010/main" val="26699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309BB-3C58-7EEC-3E09-89293F74ED5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FF7D5FB-2110-C729-D15B-03E11F520383}"/>
              </a:ext>
            </a:extLst>
          </p:cNvPr>
          <p:cNvSpPr>
            <a:spLocks noGrp="1"/>
          </p:cNvSpPr>
          <p:nvPr>
            <p:ph type="title"/>
          </p:nvPr>
        </p:nvSpPr>
        <p:spPr/>
        <p:txBody>
          <a:bodyPr/>
          <a:lstStyle/>
          <a:p>
            <a:r>
              <a:rPr lang="pl-PL" dirty="0"/>
              <a:t>Ekstrakcja cech</a:t>
            </a:r>
          </a:p>
        </p:txBody>
      </p:sp>
      <p:sp>
        <p:nvSpPr>
          <p:cNvPr id="3" name="Symbol zastępczy zawartości 2">
            <a:extLst>
              <a:ext uri="{FF2B5EF4-FFF2-40B4-BE49-F238E27FC236}">
                <a16:creationId xmlns:a16="http://schemas.microsoft.com/office/drawing/2014/main" id="{1E800CF2-1170-2501-926E-90DFBDAFC102}"/>
              </a:ext>
            </a:extLst>
          </p:cNvPr>
          <p:cNvSpPr>
            <a:spLocks noGrp="1"/>
          </p:cNvSpPr>
          <p:nvPr>
            <p:ph idx="1"/>
          </p:nvPr>
        </p:nvSpPr>
        <p:spPr/>
        <p:txBody>
          <a:bodyPr/>
          <a:lstStyle/>
          <a:p>
            <a:r>
              <a:rPr lang="pl-PL" b="1" dirty="0"/>
              <a:t>Zero </a:t>
            </a:r>
            <a:r>
              <a:rPr lang="pl-PL" b="1" dirty="0" err="1"/>
              <a:t>crossing</a:t>
            </a:r>
            <a:r>
              <a:rPr lang="pl-PL" b="1" dirty="0"/>
              <a:t> </a:t>
            </a:r>
            <a:r>
              <a:rPr lang="pl-PL" b="1" dirty="0" err="1"/>
              <a:t>rate</a:t>
            </a:r>
            <a:r>
              <a:rPr lang="pl-PL" b="1" dirty="0"/>
              <a:t> (ZCR)</a:t>
            </a:r>
            <a:r>
              <a:rPr lang="pl-PL" dirty="0"/>
              <a:t> – liczba zmian znaku sygnału w czasie; </a:t>
            </a:r>
            <a:r>
              <a:rPr lang="pl-PL" b="1" dirty="0"/>
              <a:t>Chroma </a:t>
            </a:r>
            <a:r>
              <a:rPr lang="pl-PL" b="1" dirty="0" err="1"/>
              <a:t>features</a:t>
            </a:r>
            <a:r>
              <a:rPr lang="pl-PL" dirty="0"/>
              <a:t> – opisują energię w 12 półtonach muzycznych; ignorują wysokość oktawy i skupiają się na harmonii.</a:t>
            </a:r>
          </a:p>
          <a:p>
            <a:r>
              <a:rPr lang="pl-PL" b="1" dirty="0"/>
              <a:t>Energy</a:t>
            </a:r>
            <a:r>
              <a:rPr lang="pl-PL" dirty="0"/>
              <a:t> – całkowita „moc” sygnału; w praktyce mówi, jak głośny lub intensywny jest dźwięk.</a:t>
            </a:r>
          </a:p>
        </p:txBody>
      </p:sp>
    </p:spTree>
    <p:extLst>
      <p:ext uri="{BB962C8B-B14F-4D97-AF65-F5344CB8AC3E}">
        <p14:creationId xmlns:p14="http://schemas.microsoft.com/office/powerpoint/2010/main" val="4103827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A2F176-EAA8-9170-06A0-F0A0FED8D589}"/>
              </a:ext>
            </a:extLst>
          </p:cNvPr>
          <p:cNvSpPr>
            <a:spLocks noGrp="1"/>
          </p:cNvSpPr>
          <p:nvPr>
            <p:ph type="title"/>
          </p:nvPr>
        </p:nvSpPr>
        <p:spPr/>
        <p:txBody>
          <a:bodyPr/>
          <a:lstStyle/>
          <a:p>
            <a:r>
              <a:rPr lang="pl-PL" dirty="0"/>
              <a:t>Od nagrania do modelu</a:t>
            </a:r>
          </a:p>
        </p:txBody>
      </p:sp>
      <p:sp>
        <p:nvSpPr>
          <p:cNvPr id="3" name="Symbol zastępczy zawartości 2">
            <a:extLst>
              <a:ext uri="{FF2B5EF4-FFF2-40B4-BE49-F238E27FC236}">
                <a16:creationId xmlns:a16="http://schemas.microsoft.com/office/drawing/2014/main" id="{C247CBA0-3A5C-A45E-406F-46DD9ECEB9EE}"/>
              </a:ext>
            </a:extLst>
          </p:cNvPr>
          <p:cNvSpPr>
            <a:spLocks noGrp="1"/>
          </p:cNvSpPr>
          <p:nvPr>
            <p:ph idx="1"/>
          </p:nvPr>
        </p:nvSpPr>
        <p:spPr/>
        <p:txBody>
          <a:bodyPr/>
          <a:lstStyle/>
          <a:p>
            <a:pPr marL="514350" indent="-514350">
              <a:buFont typeface="+mj-lt"/>
              <a:buAutoNum type="arabicPeriod"/>
            </a:pPr>
            <a:r>
              <a:rPr lang="pl-PL" dirty="0"/>
              <a:t>Nagranie audio</a:t>
            </a:r>
          </a:p>
          <a:p>
            <a:pPr marL="514350" indent="-514350">
              <a:buFont typeface="+mj-lt"/>
              <a:buAutoNum type="arabicPeriod"/>
            </a:pPr>
            <a:r>
              <a:rPr lang="pl-PL" dirty="0"/>
              <a:t>Czyszczenie danych</a:t>
            </a:r>
          </a:p>
          <a:p>
            <a:pPr marL="514350" indent="-514350">
              <a:buFont typeface="+mj-lt"/>
              <a:buAutoNum type="arabicPeriod"/>
            </a:pPr>
            <a:r>
              <a:rPr lang="pl-PL" dirty="0"/>
              <a:t>Segmentacja</a:t>
            </a:r>
          </a:p>
          <a:p>
            <a:pPr marL="514350" indent="-514350">
              <a:buFont typeface="+mj-lt"/>
              <a:buAutoNum type="arabicPeriod"/>
            </a:pPr>
            <a:r>
              <a:rPr lang="pl-PL" dirty="0"/>
              <a:t>Transformacja sygnału</a:t>
            </a:r>
          </a:p>
          <a:p>
            <a:pPr marL="514350" indent="-514350">
              <a:buFont typeface="+mj-lt"/>
              <a:buAutoNum type="arabicPeriod"/>
            </a:pPr>
            <a:r>
              <a:rPr lang="pl-PL" dirty="0"/>
              <a:t>Ekstrakcja cech</a:t>
            </a:r>
          </a:p>
          <a:p>
            <a:pPr marL="514350" indent="-514350">
              <a:buFont typeface="+mj-lt"/>
              <a:buAutoNum type="arabicPeriod"/>
            </a:pPr>
            <a:r>
              <a:rPr lang="pl-PL" dirty="0"/>
              <a:t>Trenowanie modelu</a:t>
            </a:r>
          </a:p>
          <a:p>
            <a:pPr marL="514350" indent="-514350">
              <a:buFont typeface="+mj-lt"/>
              <a:buAutoNum type="arabicPeriod"/>
            </a:pPr>
            <a:r>
              <a:rPr lang="pl-PL" dirty="0"/>
              <a:t>Predykcja</a:t>
            </a:r>
          </a:p>
        </p:txBody>
      </p:sp>
    </p:spTree>
    <p:extLst>
      <p:ext uri="{BB962C8B-B14F-4D97-AF65-F5344CB8AC3E}">
        <p14:creationId xmlns:p14="http://schemas.microsoft.com/office/powerpoint/2010/main" val="627833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8C84CE2-2410-5355-5BBC-2BD1D8D34FAD}"/>
              </a:ext>
            </a:extLst>
          </p:cNvPr>
          <p:cNvSpPr>
            <a:spLocks noGrp="1"/>
          </p:cNvSpPr>
          <p:nvPr>
            <p:ph type="title"/>
          </p:nvPr>
        </p:nvSpPr>
        <p:spPr/>
        <p:txBody>
          <a:bodyPr/>
          <a:lstStyle/>
          <a:p>
            <a:r>
              <a:rPr lang="pl-PL" dirty="0"/>
              <a:t>Czyszczenie danych</a:t>
            </a:r>
          </a:p>
        </p:txBody>
      </p:sp>
      <p:sp>
        <p:nvSpPr>
          <p:cNvPr id="3" name="Symbol zastępczy zawartości 2">
            <a:extLst>
              <a:ext uri="{FF2B5EF4-FFF2-40B4-BE49-F238E27FC236}">
                <a16:creationId xmlns:a16="http://schemas.microsoft.com/office/drawing/2014/main" id="{2C7309FB-A678-FF1E-B137-186E4540CE5F}"/>
              </a:ext>
            </a:extLst>
          </p:cNvPr>
          <p:cNvSpPr>
            <a:spLocks noGrp="1"/>
          </p:cNvSpPr>
          <p:nvPr>
            <p:ph idx="1"/>
          </p:nvPr>
        </p:nvSpPr>
        <p:spPr/>
        <p:txBody>
          <a:bodyPr/>
          <a:lstStyle/>
          <a:p>
            <a:pPr marL="0" indent="0">
              <a:buNone/>
            </a:pPr>
            <a:r>
              <a:rPr lang="pl-PL" dirty="0"/>
              <a:t>Typowe operacje</a:t>
            </a:r>
          </a:p>
          <a:p>
            <a:r>
              <a:rPr lang="pl-PL" dirty="0"/>
              <a:t>redukcja szumu</a:t>
            </a:r>
          </a:p>
          <a:p>
            <a:r>
              <a:rPr lang="pl-PL" dirty="0"/>
              <a:t>normalizacja głośności</a:t>
            </a:r>
          </a:p>
          <a:p>
            <a:r>
              <a:rPr lang="pl-PL" dirty="0"/>
              <a:t>usuwanie ciszy</a:t>
            </a:r>
          </a:p>
          <a:p>
            <a:r>
              <a:rPr lang="pl-PL" dirty="0"/>
              <a:t>balans klas</a:t>
            </a:r>
          </a:p>
          <a:p>
            <a:r>
              <a:rPr lang="pl-PL" dirty="0"/>
              <a:t>filtrowanie zakłóceń</a:t>
            </a:r>
          </a:p>
        </p:txBody>
      </p:sp>
    </p:spTree>
    <p:extLst>
      <p:ext uri="{BB962C8B-B14F-4D97-AF65-F5344CB8AC3E}">
        <p14:creationId xmlns:p14="http://schemas.microsoft.com/office/powerpoint/2010/main" val="136956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DD33944-D881-A971-5660-6D90C5A570E6}"/>
              </a:ext>
            </a:extLst>
          </p:cNvPr>
          <p:cNvSpPr>
            <a:spLocks noGrp="1"/>
          </p:cNvSpPr>
          <p:nvPr>
            <p:ph type="title"/>
          </p:nvPr>
        </p:nvSpPr>
        <p:spPr/>
        <p:txBody>
          <a:bodyPr/>
          <a:lstStyle/>
          <a:p>
            <a:r>
              <a:rPr lang="pl-PL" dirty="0"/>
              <a:t>Augmentacja danych</a:t>
            </a:r>
          </a:p>
        </p:txBody>
      </p:sp>
      <p:sp>
        <p:nvSpPr>
          <p:cNvPr id="3" name="Symbol zastępczy zawartości 2">
            <a:extLst>
              <a:ext uri="{FF2B5EF4-FFF2-40B4-BE49-F238E27FC236}">
                <a16:creationId xmlns:a16="http://schemas.microsoft.com/office/drawing/2014/main" id="{B04C2DC3-ED4D-F3E7-204E-14149F635B24}"/>
              </a:ext>
            </a:extLst>
          </p:cNvPr>
          <p:cNvSpPr>
            <a:spLocks noGrp="1"/>
          </p:cNvSpPr>
          <p:nvPr>
            <p:ph idx="1"/>
          </p:nvPr>
        </p:nvSpPr>
        <p:spPr/>
        <p:txBody>
          <a:bodyPr>
            <a:normAutofit fontScale="92500" lnSpcReduction="10000"/>
          </a:bodyPr>
          <a:lstStyle/>
          <a:p>
            <a:pPr marL="0" indent="0">
              <a:buNone/>
            </a:pPr>
            <a:r>
              <a:rPr lang="pl-PL" dirty="0"/>
              <a:t>Augmentacja danych audio polega na tworzeniu zmodyfikowanych wersji nagrań, które nadal mają to samo znaczenie, ale różnią się np. głośnością, tempem, wysokością dźwięku czy ilością szumu. Dzięki temu model uczy się, że istotna jest treść dźwięku, a nie warunki nagrania. W efekcie staje się bardziej odporny na hałas, różne mikrofony i zmienne środowisko. Popularne techniki augmentacji:</a:t>
            </a:r>
          </a:p>
          <a:p>
            <a:r>
              <a:rPr lang="pl-PL" dirty="0" err="1"/>
              <a:t>pitch</a:t>
            </a:r>
            <a:r>
              <a:rPr lang="pl-PL" dirty="0"/>
              <a:t> </a:t>
            </a:r>
            <a:r>
              <a:rPr lang="pl-PL" dirty="0" err="1"/>
              <a:t>shifting</a:t>
            </a:r>
            <a:endParaRPr lang="pl-PL" dirty="0"/>
          </a:p>
          <a:p>
            <a:r>
              <a:rPr lang="pl-PL" dirty="0" err="1"/>
              <a:t>time</a:t>
            </a:r>
            <a:r>
              <a:rPr lang="pl-PL" dirty="0"/>
              <a:t> </a:t>
            </a:r>
            <a:r>
              <a:rPr lang="pl-PL" dirty="0" err="1"/>
              <a:t>stretching</a:t>
            </a:r>
            <a:endParaRPr lang="pl-PL" dirty="0"/>
          </a:p>
          <a:p>
            <a:r>
              <a:rPr lang="pl-PL" dirty="0"/>
              <a:t>dodawanie szumu</a:t>
            </a:r>
          </a:p>
          <a:p>
            <a:r>
              <a:rPr lang="pl-PL" dirty="0"/>
              <a:t>zmiana głośności</a:t>
            </a:r>
          </a:p>
          <a:p>
            <a:r>
              <a:rPr lang="pl-PL" dirty="0"/>
              <a:t>przesunięcie czasowe</a:t>
            </a:r>
          </a:p>
        </p:txBody>
      </p:sp>
    </p:spTree>
    <p:extLst>
      <p:ext uri="{BB962C8B-B14F-4D97-AF65-F5344CB8AC3E}">
        <p14:creationId xmlns:p14="http://schemas.microsoft.com/office/powerpoint/2010/main" val="399174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040DA5C-C446-ACEA-90A2-FDC35B242E20}"/>
              </a:ext>
            </a:extLst>
          </p:cNvPr>
          <p:cNvSpPr>
            <a:spLocks noGrp="1"/>
          </p:cNvSpPr>
          <p:nvPr>
            <p:ph type="title"/>
          </p:nvPr>
        </p:nvSpPr>
        <p:spPr/>
        <p:txBody>
          <a:bodyPr/>
          <a:lstStyle/>
          <a:p>
            <a:r>
              <a:rPr lang="pl-PL" dirty="0"/>
              <a:t>Co trafia do modelu?</a:t>
            </a:r>
          </a:p>
        </p:txBody>
      </p:sp>
      <p:sp>
        <p:nvSpPr>
          <p:cNvPr id="3" name="Symbol zastępczy zawartości 2">
            <a:extLst>
              <a:ext uri="{FF2B5EF4-FFF2-40B4-BE49-F238E27FC236}">
                <a16:creationId xmlns:a16="http://schemas.microsoft.com/office/drawing/2014/main" id="{4593042D-1E94-4553-221E-F90F17A82197}"/>
              </a:ext>
            </a:extLst>
          </p:cNvPr>
          <p:cNvSpPr>
            <a:spLocks noGrp="1"/>
          </p:cNvSpPr>
          <p:nvPr>
            <p:ph idx="1"/>
          </p:nvPr>
        </p:nvSpPr>
        <p:spPr/>
        <p:txBody>
          <a:bodyPr/>
          <a:lstStyle/>
          <a:p>
            <a:r>
              <a:rPr lang="pl-PL" dirty="0" err="1"/>
              <a:t>Waveform</a:t>
            </a:r>
            <a:endParaRPr lang="pl-PL" dirty="0"/>
          </a:p>
          <a:p>
            <a:r>
              <a:rPr lang="pl-PL" dirty="0"/>
              <a:t>FFT</a:t>
            </a:r>
          </a:p>
          <a:p>
            <a:r>
              <a:rPr lang="pl-PL" dirty="0"/>
              <a:t>Spektrogram</a:t>
            </a:r>
          </a:p>
          <a:p>
            <a:r>
              <a:rPr lang="pl-PL" dirty="0" err="1"/>
              <a:t>mel</a:t>
            </a:r>
            <a:r>
              <a:rPr lang="pl-PL" dirty="0"/>
              <a:t>-spektrogram</a:t>
            </a:r>
          </a:p>
          <a:p>
            <a:r>
              <a:rPr lang="pl-PL" dirty="0"/>
              <a:t>MFCC</a:t>
            </a:r>
          </a:p>
          <a:p>
            <a:r>
              <a:rPr lang="pl-PL" dirty="0"/>
              <a:t>Inne cechy dźwięku wyciągnięte z harmonicznych</a:t>
            </a:r>
          </a:p>
          <a:p>
            <a:endParaRPr lang="pl-PL" dirty="0"/>
          </a:p>
        </p:txBody>
      </p:sp>
    </p:spTree>
    <p:extLst>
      <p:ext uri="{BB962C8B-B14F-4D97-AF65-F5344CB8AC3E}">
        <p14:creationId xmlns:p14="http://schemas.microsoft.com/office/powerpoint/2010/main" val="38402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07FA59-2B2A-12C7-3019-B11BD4B744EB}"/>
              </a:ext>
            </a:extLst>
          </p:cNvPr>
          <p:cNvSpPr>
            <a:spLocks noGrp="1"/>
          </p:cNvSpPr>
          <p:nvPr>
            <p:ph type="title"/>
          </p:nvPr>
        </p:nvSpPr>
        <p:spPr/>
        <p:txBody>
          <a:bodyPr/>
          <a:lstStyle/>
          <a:p>
            <a:r>
              <a:rPr lang="pl-PL" dirty="0"/>
              <a:t>CNN + spektrogram</a:t>
            </a:r>
          </a:p>
        </p:txBody>
      </p:sp>
      <p:sp>
        <p:nvSpPr>
          <p:cNvPr id="3" name="Symbol zastępczy zawartości 2">
            <a:extLst>
              <a:ext uri="{FF2B5EF4-FFF2-40B4-BE49-F238E27FC236}">
                <a16:creationId xmlns:a16="http://schemas.microsoft.com/office/drawing/2014/main" id="{1EC075E1-FADC-0A90-3481-D7CAA9DF3CC3}"/>
              </a:ext>
            </a:extLst>
          </p:cNvPr>
          <p:cNvSpPr>
            <a:spLocks noGrp="1"/>
          </p:cNvSpPr>
          <p:nvPr>
            <p:ph idx="1"/>
          </p:nvPr>
        </p:nvSpPr>
        <p:spPr/>
        <p:txBody>
          <a:bodyPr>
            <a:normAutofit lnSpcReduction="10000"/>
          </a:bodyPr>
          <a:lstStyle/>
          <a:p>
            <a:pPr marL="0" indent="0">
              <a:buNone/>
            </a:pPr>
            <a:r>
              <a:rPr lang="pl-PL" dirty="0"/>
              <a:t>Aktualnie w przetwarzaniu danych popularna stała się idea aby potraktować sygnał dźwiękowy jako spektrogram i analizować go metodami klasyfikacji obrazów. W takim podejściu różne rodzaje dźwięków tworzą charakterystyczne wzory, które da się wizualnie rozróżnić, podobnie jak obiekty na zdjęciach. Dzięki temu można zastosować </a:t>
            </a:r>
            <a:r>
              <a:rPr lang="pl-PL" dirty="0" err="1"/>
              <a:t>konwolucyjne</a:t>
            </a:r>
            <a:r>
              <a:rPr lang="pl-PL" dirty="0"/>
              <a:t> sieci neuronowe, które są zaprojektowane do analizy obrazów i potrafią automatycznie wykrywać istotne cechy, takie jak linie, tekstury czy powtarzalne struktury. W przypadku audio te wzorce odpowiadają na przykład harmonicznym, rytmowi czy nagłym zmianom sygnału. W efekcie problem analizy dźwięku zostaje przekształcony w problem rozpoznawania wzorców w obrazie.</a:t>
            </a:r>
          </a:p>
        </p:txBody>
      </p:sp>
    </p:spTree>
    <p:extLst>
      <p:ext uri="{BB962C8B-B14F-4D97-AF65-F5344CB8AC3E}">
        <p14:creationId xmlns:p14="http://schemas.microsoft.com/office/powerpoint/2010/main" val="879680403"/>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1875</TotalTime>
  <Words>977</Words>
  <Application>Microsoft Office PowerPoint</Application>
  <PresentationFormat>Panoramiczny</PresentationFormat>
  <Paragraphs>147</Paragraphs>
  <Slides>28</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28</vt:i4>
      </vt:variant>
    </vt:vector>
  </HeadingPairs>
  <TitlesOfParts>
    <vt:vector size="33" baseType="lpstr">
      <vt:lpstr>Aptos</vt:lpstr>
      <vt:lpstr>Aptos Display</vt:lpstr>
      <vt:lpstr>Arial</vt:lpstr>
      <vt:lpstr>Cambria Math</vt:lpstr>
      <vt:lpstr>Motyw pakietu Office</vt:lpstr>
      <vt:lpstr>Przetwarzanie sygnałów dźwiękowych</vt:lpstr>
      <vt:lpstr>Plan prezentacji</vt:lpstr>
      <vt:lpstr>Czym jest dźwięk?</vt:lpstr>
      <vt:lpstr>Jak komputer zapisuje dźwięk?</vt:lpstr>
      <vt:lpstr>Najprostszy sygnał audio</vt:lpstr>
      <vt:lpstr>Głośność sygnału</vt:lpstr>
      <vt:lpstr>Ton podstawowy</vt:lpstr>
      <vt:lpstr>Wysokość tonu</vt:lpstr>
      <vt:lpstr>Harmoniczne</vt:lpstr>
      <vt:lpstr>Harmoniczne</vt:lpstr>
      <vt:lpstr>Wysokość dźwięku</vt:lpstr>
      <vt:lpstr>Widmo dźwięku</vt:lpstr>
      <vt:lpstr>Dziedzina czasu i częstotliwości</vt:lpstr>
      <vt:lpstr>Do czego stosujemy analizę częstotliwościową?</vt:lpstr>
      <vt:lpstr>Przejście do dziedziny częstotliwości – Transformata Fouriera</vt:lpstr>
      <vt:lpstr>Discret Fourier Transform</vt:lpstr>
      <vt:lpstr>FFT i DTFT</vt:lpstr>
      <vt:lpstr>Spektrogram</vt:lpstr>
      <vt:lpstr>Spektrogram</vt:lpstr>
      <vt:lpstr>Okna czasowe</vt:lpstr>
      <vt:lpstr>Ekstrakcja cech</vt:lpstr>
      <vt:lpstr>Ekstrakcja cech</vt:lpstr>
      <vt:lpstr>Ekstrakcja cech</vt:lpstr>
      <vt:lpstr>Od nagrania do modelu</vt:lpstr>
      <vt:lpstr>Czyszczenie danych</vt:lpstr>
      <vt:lpstr>Augmentacja danych</vt:lpstr>
      <vt:lpstr>Co trafia do modelu?</vt:lpstr>
      <vt:lpstr>CNN + spektrogram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Jakub Grzybowski</dc:creator>
  <cp:lastModifiedBy>Jakub Grzybowski</cp:lastModifiedBy>
  <cp:revision>28</cp:revision>
  <dcterms:created xsi:type="dcterms:W3CDTF">2025-10-20T17:03:04Z</dcterms:created>
  <dcterms:modified xsi:type="dcterms:W3CDTF">2026-05-20T14:25:51Z</dcterms:modified>
</cp:coreProperties>
</file>